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81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9951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14A2C">
              <a:alpha val="7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20E">
              <a:alpha val="4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85788"/>
            <a:ext cx="171450" cy="1714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6800" y="571500"/>
            <a:ext cx="19965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1512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· Ohmybrain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473511" y="571500"/>
            <a:ext cx="2052489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70000"/>
              </a:lnSpc>
              <a:buNone/>
            </a:pPr>
            <a:r>
              <a:rPr lang="en-US" sz="1050" kern="0" spc="189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FIELDBOOK · 2026 D:\CLAUDE · UWACOMM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2000" y="2102430"/>
            <a:ext cx="101069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第 零 卷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867942" y="2102430"/>
            <a:ext cx="2220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B14A2C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185243" y="2102430"/>
            <a:ext cx="167937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338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FIELD GUIDE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62000" y="2721555"/>
            <a:ext cx="15748715" cy="2913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100" kern="0" spc="-278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算法研究者</a:t>
            </a:r>
            <a:r>
              <a:rPr lang="zh-CN" altLang="en-US" sz="11100" kern="0" spc="-278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r>
              <a:rPr lang="en-US" altLang="zh-CN" sz="11100" kern="0" spc="-278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</a:t>
            </a:r>
            <a:r>
              <a:rPr lang="en-US" sz="11100" kern="0" spc="-278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开发流程</a:t>
            </a:r>
            <a:endParaRPr lang="en-US" sz="11100" dirty="0"/>
          </a:p>
        </p:txBody>
      </p:sp>
      <p:sp>
        <p:nvSpPr>
          <p:cNvPr id="11" name="Text 8"/>
          <p:cNvSpPr/>
          <p:nvPr/>
        </p:nvSpPr>
        <p:spPr>
          <a:xfrm>
            <a:off x="762000" y="8477250"/>
            <a:ext cx="1726692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kern="0" spc="-13" dirty="0">
                <a:solidFill>
                  <a:srgbClr val="2A251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用 Claude 做 UWA 仿真 —— </a:t>
            </a:r>
            <a:r>
              <a:rPr lang="en-US" sz="2550" kern="0" spc="-13" dirty="0" err="1">
                <a:solidFill>
                  <a:srgbClr val="2A251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一份从调研到归档的工序手册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762000" y="9658350"/>
            <a:ext cx="26783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ALGORITHM RESEARCHERS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5029557" y="9658350"/>
            <a:ext cx="25726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EDITION 2026.05 — REV. 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14350"/>
            <a:ext cx="57150" cy="57150"/>
          </a:xfrm>
          <a:prstGeom prst="ellipse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8230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062996" y="457200"/>
            <a:ext cx="729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32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028700"/>
            <a:ext cx="17266920" cy="1390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200" kern="0" spc="-144" dirty="0" err="1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目录</a:t>
            </a:r>
            <a:r>
              <a:rPr lang="en-US" sz="7200" kern="0" spc="-144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</a:t>
            </a:r>
            <a:r>
              <a:rPr lang="en-US" sz="7200" kern="0" spc="-144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Contents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762000" y="1806532"/>
            <a:ext cx="167640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62000" y="2225632"/>
            <a:ext cx="6858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68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CH. 01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71600" y="2025607"/>
            <a:ext cx="1585417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kern="0" spc="-13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研究方式在 2026 年的重启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6687800" y="2225632"/>
            <a:ext cx="838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03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2000" y="2873332"/>
            <a:ext cx="167640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62000" y="3292432"/>
            <a:ext cx="6858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68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CH. 02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71600" y="3092407"/>
            <a:ext cx="1585417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kern="0" spc="-13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算法研究者的定义在变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6687800" y="3292432"/>
            <a:ext cx="838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05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2000" y="3940132"/>
            <a:ext cx="167640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62000" y="4359232"/>
            <a:ext cx="6858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68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CH. 03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71600" y="4159207"/>
            <a:ext cx="1585417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kern="0" spc="-13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研究阶段 Research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6687800" y="4359232"/>
            <a:ext cx="838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09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62000" y="5006932"/>
            <a:ext cx="167640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62000" y="5426032"/>
            <a:ext cx="6858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68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CH. 04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71600" y="5226007"/>
            <a:ext cx="1585417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kern="0" spc="-13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Spec + Build 阶段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6687800" y="5426032"/>
            <a:ext cx="838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13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62000" y="6073732"/>
            <a:ext cx="167640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62000" y="6492832"/>
            <a:ext cx="6858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68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CH. 05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71600" y="6292807"/>
            <a:ext cx="1585417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kern="0" spc="-13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Verify + RCA 阶段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6687800" y="6492832"/>
            <a:ext cx="838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18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2000" y="7140532"/>
            <a:ext cx="167640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62000" y="7559632"/>
            <a:ext cx="6858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68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CH. 06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371600" y="7359607"/>
            <a:ext cx="1585417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kern="0" spc="-13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Promote + Archive 阶段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6687800" y="7559632"/>
            <a:ext cx="838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22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62000" y="8207332"/>
            <a:ext cx="167640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62000" y="8626432"/>
            <a:ext cx="6858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68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CH. 07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371600" y="8426407"/>
            <a:ext cx="1585417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kern="0" spc="-13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同样的工作，新规则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16687800" y="8626432"/>
            <a:ext cx="838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26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762000" y="10169482"/>
            <a:ext cx="167640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762000" y="9274132"/>
            <a:ext cx="167640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62000" y="9693232"/>
            <a:ext cx="6858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68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APPX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371600" y="9493207"/>
            <a:ext cx="1585417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kern="0" spc="-13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工具栈与模板</a:t>
            </a:r>
            <a:endParaRPr lang="en-US" sz="2550" dirty="0"/>
          </a:p>
        </p:txBody>
      </p:sp>
      <p:sp>
        <p:nvSpPr>
          <p:cNvPr id="38" name="Text 36"/>
          <p:cNvSpPr/>
          <p:nvPr/>
        </p:nvSpPr>
        <p:spPr>
          <a:xfrm>
            <a:off x="16687800" y="9693232"/>
            <a:ext cx="838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30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1" y="1143000"/>
            <a:ext cx="5471620" cy="457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250"/>
              </a:lnSpc>
              <a:buNone/>
            </a:pPr>
            <a:r>
              <a:rPr lang="en-US" sz="40000" i="1" kern="0" spc="-1680" dirty="0">
                <a:solidFill>
                  <a:srgbClr val="15120E">
                    <a:alpha val="8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402761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kern="0" spc="297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ONE · 第一章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62000" y="2857500"/>
            <a:ext cx="171450" cy="2667000"/>
          </a:xfrm>
          <a:prstGeom prst="rect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238250" y="2857500"/>
            <a:ext cx="1943100" cy="1943100"/>
          </a:xfrm>
          <a:prstGeom prst="ellipse">
            <a:avLst/>
          </a:prstGeom>
          <a:ln w="19050">
            <a:solidFill>
              <a:srgbClr val="15120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619500" y="3619500"/>
            <a:ext cx="1143000" cy="1143000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62000" y="5609332"/>
            <a:ext cx="17266920" cy="3382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900" kern="0" spc="-322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研究方式在 </a:t>
            </a:r>
            <a:r>
              <a:rPr lang="en-US" sz="12900" i="1" kern="0" spc="-322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2026 </a:t>
            </a:r>
            <a:r>
              <a:rPr lang="en-US" sz="12900" kern="0" spc="-322" dirty="0" err="1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重启</a:t>
            </a:r>
            <a:endParaRPr lang="en-US" sz="12900" dirty="0"/>
          </a:p>
        </p:txBody>
      </p:sp>
      <p:sp>
        <p:nvSpPr>
          <p:cNvPr id="8" name="Text 6"/>
          <p:cNvSpPr/>
          <p:nvPr/>
        </p:nvSpPr>
        <p:spPr>
          <a:xfrm>
            <a:off x="16936343" y="9610725"/>
            <a:ext cx="85635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68" dirty="0">
                <a:solidFill>
                  <a:srgbClr val="1512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</a:t>
            </a:r>
            <a:r>
              <a:rPr lang="en-US" sz="1350" kern="0" spc="68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32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14350"/>
            <a:ext cx="57150" cy="57150"/>
          </a:xfrm>
          <a:prstGeom prst="ellipse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31866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01 · 研究方式在 2026 年的重启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062996" y="457200"/>
            <a:ext cx="729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32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028700"/>
            <a:ext cx="14716125" cy="7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kern="0" spc="-86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 在算法研究里 </a:t>
            </a:r>
            <a:r>
              <a:rPr lang="en-US" sz="4800" i="1" kern="0" spc="-86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改变了什么。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62000" y="2267992"/>
            <a:ext cx="8115300" cy="2466975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692330" y="2448967"/>
            <a:ext cx="102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01 · 从前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4425" y="2620417"/>
            <a:ext cx="76327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人在每一步都是瓶颈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14425" y="2982367"/>
            <a:ext cx="76327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8A7F7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Before agentic coding.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14425" y="3391942"/>
            <a:ext cx="763276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过去的算法研究是：人读论文 → 人写 MATLAB / Python → 人手调参 → 人跑仿真 → 人分析结果。每一步都吃时间，每一步都瓶颈在人本身。研究的节奏由「能多快读完一篇论文 + 能多快把方法翻成代码」决定。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2000" y="5001667"/>
            <a:ext cx="8115300" cy="2771775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692330" y="5182642"/>
            <a:ext cx="102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02 · 现在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14425" y="5354092"/>
            <a:ext cx="76327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中间四步交给 Claude Code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14425" y="5716042"/>
            <a:ext cx="76327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8A7F7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Researcher keeps only the last call.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14425" y="6125617"/>
            <a:ext cx="7632763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 年，Claude Code 能完成中间四步里的大部分：从 raw/ 里 ingest 论文 → 在 wiki/source-summaries/ 沉淀 5 条可迁移结论 → 按 specs/active spec 起草算法骨架 → 跑长 benchmark + 跨 SNR 矩阵。研究者保留 </a:t>
            </a:r>
            <a:r>
              <a:rPr lang="en-US" sz="1500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最后一步且仅最后一步 </a:t>
            </a: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：判断结果对不对、决定下一版的方向。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410700" y="2267992"/>
            <a:ext cx="8115300" cy="2466975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341030" y="2448967"/>
            <a:ext cx="102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03 · 现状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763125" y="2620417"/>
            <a:ext cx="76327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UWAcomm 是这套流程的产物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763125" y="2982367"/>
            <a:ext cx="76327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8A7F7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One person + one Claude orchestrator.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763125" y="3391942"/>
            <a:ext cx="763276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UWAcomm 现状是这套流程的产物：13 模块 / 6 通信体制（SC-FDE / OFDM / OTFS / SC-TDE / DSSS / FH-MFSK）/ 186 函数 / V→V→V 递进版本管理，能用一个人 + 一个 Claude 编排者维护。这在 agentic 编程到来之前不可想象。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410700" y="5001667"/>
            <a:ext cx="8115300" cy="2486025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6341030" y="5182642"/>
            <a:ext cx="102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04 · 边界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763125" y="5354092"/>
            <a:ext cx="76327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压缩到「会话级别」，但不是所有环节都能压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763125" y="5716042"/>
            <a:ext cx="763276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8A7F7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Two weeks → one session.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763125" y="6144667"/>
            <a:ext cx="763276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工作流被压缩到了「会话级别」：调研 → spec → code → test → review 的整周期从「两周」压到「一个 session」。但不是所有环节都可以压。本手册讲清楚哪些可压、哪些必须留人、哪些必须停下来等用户。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61371" y="1143000"/>
            <a:ext cx="5602249" cy="457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250"/>
              </a:lnSpc>
              <a:buNone/>
            </a:pPr>
            <a:r>
              <a:rPr lang="en-US" sz="40000" i="1" kern="0" spc="-1680" dirty="0">
                <a:solidFill>
                  <a:srgbClr val="15120E">
                    <a:alpha val="8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402761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kern="0" spc="297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TWO · 第二章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62000" y="4381500"/>
            <a:ext cx="571500" cy="571500"/>
          </a:xfrm>
          <a:prstGeom prst="rect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619250" y="3429000"/>
            <a:ext cx="1143000" cy="1524000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048000" y="4152900"/>
            <a:ext cx="800100" cy="800100"/>
          </a:xfrm>
          <a:prstGeom prst="ellipse">
            <a:avLst/>
          </a:prstGeom>
          <a:ln w="19050">
            <a:solidFill>
              <a:srgbClr val="15120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133850" y="2667000"/>
            <a:ext cx="381000" cy="2286000"/>
          </a:xfrm>
          <a:prstGeom prst="rect">
            <a:avLst/>
          </a:prstGeom>
          <a:solidFill>
            <a:srgbClr val="2F4A3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62000" y="5609332"/>
            <a:ext cx="17266920" cy="2189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900" kern="0" spc="-322" dirty="0" err="1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算法研究者的</a:t>
            </a:r>
            <a:r>
              <a:rPr lang="en-US" sz="12900" kern="0" spc="-322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</a:t>
            </a:r>
            <a:r>
              <a:rPr lang="zh-CN" altLang="en-US" sz="12900" kern="0" spc="-322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Noto Serif SC" pitchFamily="34" charset="-120"/>
              </a:rPr>
              <a:t>定义</a:t>
            </a:r>
            <a:r>
              <a:rPr lang="en-US" sz="12900" kern="0" spc="-322" dirty="0" err="1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在变</a:t>
            </a:r>
            <a:r>
              <a:rPr lang="en-US" sz="12900" kern="0" spc="-322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2900" dirty="0"/>
          </a:p>
        </p:txBody>
      </p:sp>
      <p:sp>
        <p:nvSpPr>
          <p:cNvPr id="9" name="Text 7"/>
          <p:cNvSpPr/>
          <p:nvPr/>
        </p:nvSpPr>
        <p:spPr>
          <a:xfrm>
            <a:off x="16936343" y="9610725"/>
            <a:ext cx="85635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68" dirty="0">
                <a:solidFill>
                  <a:srgbClr val="1512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</a:t>
            </a:r>
            <a:r>
              <a:rPr lang="en-US" sz="1350" kern="0" spc="68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32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14350"/>
            <a:ext cx="57150" cy="57150"/>
          </a:xfrm>
          <a:prstGeom prst="ellipse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27608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02 · 算法研究者的定义在变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062996" y="457200"/>
            <a:ext cx="729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32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028700"/>
            <a:ext cx="14716125" cy="7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kern="0" spc="-86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 IC 到 </a:t>
            </a:r>
            <a:r>
              <a:rPr lang="en-US" sz="4800" i="1" kern="0" spc="-86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Claude 编排者。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62000" y="2267992"/>
            <a:ext cx="8358759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251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算法研究者过去由「能写出 MATLAB 函数」定义：能从论文公式翻代码、能调出收敛的 EM、能跑通 BER vs SNR 曲线。这套技能集在 agentic 编程到来后被部分替代——Claude 现在能从论文里直接生成可跑的 MATLAB 骨架。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2000" y="4211092"/>
            <a:ext cx="8358759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251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2026 年定义在变。研究者的注意力从「能写代码」上移到「能起草 spec、做架构决策、把结果转判断、把结论沉淀到跨项目可复用的知识」。从 IC（individual contributor）转向 orchestrator——指挥 Claude agents 做研究、写代码、跑测试，同时保留判断权。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410700" y="2267992"/>
            <a:ext cx="8115300" cy="3421261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6181040" y="2448967"/>
            <a:ext cx="11830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· 注意力分配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763125" y="2620417"/>
            <a:ext cx="76327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注意力分配（个人粗估）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972675" y="3077617"/>
            <a:ext cx="7423213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写代码 </a:t>
            </a:r>
            <a:r>
              <a:rPr lang="en-US" sz="1425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~20%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（多数交给 Claude Code）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9763125" y="3453259"/>
            <a:ext cx="741045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972675" y="3558034"/>
            <a:ext cx="7423213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Spec / Plan 设计 </a:t>
            </a:r>
            <a:r>
              <a:rPr lang="en-US" sz="1425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~25%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（必须人主导）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9763125" y="3933676"/>
            <a:ext cx="741045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972675" y="4038451"/>
            <a:ext cx="7423213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RCA + 调试 </a:t>
            </a:r>
            <a:r>
              <a:rPr lang="en-US" sz="1425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~30%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（Claude 提假设、人下结论）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9763125" y="4414093"/>
            <a:ext cx="741045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972675" y="4518868"/>
            <a:ext cx="7423213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Promote + 知识沉淀 </a:t>
            </a:r>
            <a:r>
              <a:rPr lang="en-US" sz="1425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~15%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（跨项目结论回流 Hub）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9763125" y="4894511"/>
            <a:ext cx="741045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972675" y="4999286"/>
            <a:ext cx="7423213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其他（环境、配置、版本管理）</a:t>
            </a:r>
            <a:r>
              <a:rPr lang="en-US" sz="1425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~10%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9410700" y="5917853"/>
            <a:ext cx="8115300" cy="2460427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6327636" y="6098828"/>
            <a:ext cx="10364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 · 解锁的人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763125" y="6270278"/>
            <a:ext cx="76327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解锁的人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636443" y="6632228"/>
            <a:ext cx="7613333" cy="146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有领域 insight 但 MATLAB 写不动的研究者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理论扎实但工程化吃力的学生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需要快速验证想法但没时间从零搭脚手架的人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14350"/>
            <a:ext cx="57150" cy="57150"/>
          </a:xfrm>
          <a:prstGeom prst="ellipse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27608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02 · 算法研究者的定义在变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062996" y="457200"/>
            <a:ext cx="729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32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028700"/>
            <a:ext cx="14716125" cy="7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kern="0" spc="-86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精益研究的 </a:t>
            </a:r>
            <a:r>
              <a:rPr lang="en-US" sz="4800" i="1" kern="0" spc="-86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三大 AI 能力。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62000" y="2267992"/>
            <a:ext cx="5283101" cy="3650754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713512" y="2448967"/>
            <a:ext cx="16966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114425" y="2620417"/>
            <a:ext cx="501104" cy="219075"/>
          </a:xfrm>
          <a:prstGeom prst="rect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209675" y="2648992"/>
            <a:ext cx="38680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FAF7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调研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114425" y="2896642"/>
            <a:ext cx="47155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8A7F7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像随叫随到的领域专家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23975" y="3420517"/>
            <a:ext cx="4506048" cy="605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论文摄入：USBL 9 篇一次批量 ingest（commit </a:t>
            </a: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f8eccdd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），跨论文方法学合成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114425" y="4082802"/>
            <a:ext cx="4578251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323975" y="4187577"/>
            <a:ext cx="4506048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并行 ingest：doppler-estimation-methods 6 篇并行（2026-04-22，wiki-ingester 子代理）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114425" y="4843611"/>
            <a:ext cx="4578251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323975" y="4948386"/>
            <a:ext cx="4506048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跨论文对照：3 层渐进披露（index → log → 详）每次 ≤3 页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6502301" y="2267992"/>
            <a:ext cx="5283250" cy="3650754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1360646" y="2448967"/>
            <a:ext cx="2629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4726" y="2620417"/>
            <a:ext cx="1194495" cy="219075"/>
          </a:xfrm>
          <a:prstGeom prst="rect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949976" y="2648992"/>
            <a:ext cx="10801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FAF7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agentic 编程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6854726" y="2896642"/>
            <a:ext cx="471575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8A7F7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永不阻塞的工程师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64276" y="3420517"/>
            <a:ext cx="4506202" cy="605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α 双 LFM 补偿（</a:t>
            </a: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fd130f7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）：一个算法推广到 4 个通信体制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6854726" y="4082802"/>
            <a:ext cx="45784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064276" y="4187577"/>
            <a:ext cx="4506202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SC-FDE V4.1 高 SNR clamp 修复： </a:t>
            </a:r>
            <a:r>
              <a:rPr lang="en-US" sz="1425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50.23% → 0.43%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（117× 改善）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6854726" y="4843611"/>
            <a:ext cx="45784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064276" y="4948386"/>
            <a:ext cx="4506202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jakes V2.0 passband-native（Hilbert+SoS）：fs_pos +8 vs V1.0 +7328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12242750" y="2267992"/>
            <a:ext cx="5283250" cy="3650754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7007780" y="2448967"/>
            <a:ext cx="3562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III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2595175" y="2620417"/>
            <a:ext cx="811560" cy="219075"/>
          </a:xfrm>
          <a:prstGeom prst="rect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2690425" y="2648992"/>
            <a:ext cx="6972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FAF7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知识管理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12595175" y="2896642"/>
            <a:ext cx="471575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8A7F7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跨项目可复用的知识基底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2804725" y="3420517"/>
            <a:ext cx="4506202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Hub wiki：</a:t>
            </a:r>
            <a:r>
              <a:rPr lang="en-US" sz="1425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88 → 89 页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（17 concepts / 8 entities / 30+ source-summaries / 3 architecture）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12595175" y="4076551"/>
            <a:ext cx="45784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2804725" y="4181326"/>
            <a:ext cx="4506202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memory 5 层栈：50+ 条目，跨会话恒久</a:t>
            </a:r>
            <a:endParaRPr lang="en-US" sz="1425" dirty="0"/>
          </a:p>
        </p:txBody>
      </p:sp>
      <p:sp>
        <p:nvSpPr>
          <p:cNvPr id="34" name="Shape 32"/>
          <p:cNvSpPr/>
          <p:nvPr/>
        </p:nvSpPr>
        <p:spPr>
          <a:xfrm>
            <a:off x="12595175" y="4556968"/>
            <a:ext cx="45784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2804725" y="4661743"/>
            <a:ext cx="4506202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MCP knowledge graph：UWAcomm α 补偿 17 实体 + 23 关系快照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14350"/>
            <a:ext cx="57150" cy="57150"/>
          </a:xfrm>
          <a:prstGeom prst="ellipse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27608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02 · 算法研究者的定义在变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062996" y="457200"/>
            <a:ext cx="729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32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028700"/>
            <a:ext cx="14716125" cy="7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kern="0" spc="-86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三表面 </a:t>
            </a:r>
            <a:r>
              <a:rPr lang="en-US" sz="4800" i="1" kern="0" spc="-86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在你的场景里。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62000" y="2658517"/>
            <a:ext cx="3009900" cy="19050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33450" y="2401342"/>
            <a:ext cx="275729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26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表面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71900" y="2658517"/>
            <a:ext cx="7815263" cy="19050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943350" y="2401342"/>
            <a:ext cx="77068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26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在你这里的角色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1587163" y="2658517"/>
            <a:ext cx="5938838" cy="19050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758613" y="2401342"/>
            <a:ext cx="577410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26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使用情况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62000" y="3339554"/>
            <a:ext cx="30099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33450" y="2849017"/>
            <a:ext cx="275729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Chat </a:t>
            </a:r>
            <a:r>
              <a:rPr lang="en-US" sz="1050" b="1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claude.ai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3771900" y="3339554"/>
            <a:ext cx="7815263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943350" y="2849017"/>
            <a:ext cx="77068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 IDE 快问答 / 写日常邮件 / quick sanity check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11587163" y="3339554"/>
            <a:ext cx="5938838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1758613" y="2877592"/>
            <a:ext cx="1383804" cy="295275"/>
          </a:xfrm>
          <a:prstGeom prst="roundRect">
            <a:avLst>
              <a:gd name="adj" fmla="val 50000"/>
            </a:avLst>
          </a:prstGeom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1882438" y="2925217"/>
            <a:ext cx="12123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84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已用 · 低频补充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2000" y="4006304"/>
            <a:ext cx="30099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33450" y="3520529"/>
            <a:ext cx="275729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 </a:t>
            </a:r>
            <a:r>
              <a:rPr lang="en-US" sz="1050" b="1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3771900" y="4006304"/>
            <a:ext cx="7815263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943350" y="3520529"/>
            <a:ext cx="77068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主力：MATLAB / Python / 文档 / 知识管理 / git 全栈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11587163" y="4006304"/>
            <a:ext cx="5938838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1758613" y="3544342"/>
            <a:ext cx="3069431" cy="295275"/>
          </a:xfrm>
          <a:prstGeom prst="roundRect">
            <a:avLst>
              <a:gd name="adj" fmla="val 50000"/>
            </a:avLst>
          </a:prstGeom>
          <a:ln w="9525">
            <a:solidFill>
              <a:srgbClr val="B14A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1882438" y="3591967"/>
            <a:ext cx="291386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84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已用 · 覆盖 12 主项目 + 3 WORKTREE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62000" y="4977854"/>
            <a:ext cx="3009900" cy="9525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33450" y="4187279"/>
            <a:ext cx="275729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Cowork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3771900" y="4977854"/>
            <a:ext cx="7815263" cy="9525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3943350" y="4187279"/>
            <a:ext cx="770682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理论上对应 Ohmybrain ingest / wiki 维护流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11587163" y="4977854"/>
            <a:ext cx="5938838" cy="9525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1758613" y="4211092"/>
            <a:ext cx="1239887" cy="295275"/>
          </a:xfrm>
          <a:prstGeom prst="roundRect">
            <a:avLst>
              <a:gd name="adj" fmla="val 50000"/>
            </a:avLst>
          </a:prstGeom>
          <a:solidFill>
            <a:srgbClr val="15120E"/>
          </a:solidFill>
          <a:ln w="9525">
            <a:solidFill>
              <a:srgbClr val="15120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1882438" y="4258717"/>
            <a:ext cx="106843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84" dirty="0">
                <a:solidFill>
                  <a:srgbClr val="F2EEE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未用 · 可评估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758613" y="4582567"/>
            <a:ext cx="576381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8A7F7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目前 wiki-ingester 子代理已覆盖类似功能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61371" y="1143000"/>
            <a:ext cx="5602249" cy="457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250"/>
              </a:lnSpc>
              <a:buNone/>
            </a:pPr>
            <a:r>
              <a:rPr lang="en-US" sz="40000" i="1" kern="0" spc="-1680" dirty="0">
                <a:solidFill>
                  <a:srgbClr val="15120E">
                    <a:alpha val="8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431719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kern="0" spc="297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THREE · 第三章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857500"/>
            <a:ext cx="4000500" cy="266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7214741"/>
            <a:ext cx="17266920" cy="1776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900" kern="0" spc="-322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研究阶段 </a:t>
            </a:r>
            <a:r>
              <a:rPr lang="en-US" sz="12900" i="1" kern="0" spc="-322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Research.</a:t>
            </a:r>
            <a:endParaRPr lang="en-US" sz="12900" dirty="0"/>
          </a:p>
        </p:txBody>
      </p:sp>
      <p:sp>
        <p:nvSpPr>
          <p:cNvPr id="6" name="Text 3"/>
          <p:cNvSpPr/>
          <p:nvPr/>
        </p:nvSpPr>
        <p:spPr>
          <a:xfrm>
            <a:off x="16936343" y="9610725"/>
            <a:ext cx="85635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68" dirty="0">
                <a:solidFill>
                  <a:srgbClr val="1512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</a:t>
            </a:r>
            <a:r>
              <a:rPr lang="en-US" sz="1350" kern="0" spc="68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32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14350"/>
            <a:ext cx="57150" cy="57150"/>
          </a:xfrm>
          <a:prstGeom prst="ellipse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271957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03 · 研究阶段 RESEARCH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062996" y="457200"/>
            <a:ext cx="729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32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028700"/>
            <a:ext cx="14716125" cy="7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kern="0" spc="-86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研究阶段：</a:t>
            </a:r>
            <a:r>
              <a:rPr lang="en-US" sz="4800" i="1" kern="0" spc="-86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目标与退出条件。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62000" y="2267992"/>
            <a:ext cx="8115300" cy="1752600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052346" y="2448967"/>
            <a:ext cx="663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阶段目标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4425" y="2620417"/>
            <a:ext cx="76327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先查后做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14425" y="2982367"/>
            <a:ext cx="763276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用调研驱动的「先查后做」工序，避免在已沉淀知识旁重造轮子。先 query Hub wiki + memory，再决定要不要 ingest 新材料或起草新 spec。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2000" y="4287292"/>
            <a:ext cx="8115300" cy="2940844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759005" y="4468267"/>
            <a:ext cx="9563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四个核心问题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14425" y="4639717"/>
            <a:ext cx="76327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按顺序问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87742" y="5001667"/>
            <a:ext cx="7613333" cy="1950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Hub wiki/index.md 是否已有相关 concept 或 source-summary？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相关论文是否已在 raw/papers/ 或 raw/articles/ 里？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SOTA 论文是什么？已 ingest 还是待 ingest？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你想做的方法是否已在 specs/archive/ 历史里被试过？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9410700" y="2267992"/>
            <a:ext cx="8115300" cy="1752600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6701046" y="2448967"/>
            <a:ext cx="663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退出条件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763125" y="2620417"/>
            <a:ext cx="76327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知识 ready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763125" y="2982367"/>
            <a:ext cx="763276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攒齐定性证据（已有知识 + 已读论文 + 已审历史 spec），让 build 是合理推断而非「不查就开干」。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410700" y="4287292"/>
            <a:ext cx="8115300" cy="2940844"/>
          </a:xfrm>
          <a:prstGeom prst="rect">
            <a:avLst/>
          </a:prstGeom>
          <a:solidFill>
            <a:srgbClr val="FAF7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9410700" y="7218611"/>
            <a:ext cx="81153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9410700" y="4287292"/>
            <a:ext cx="81153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9410700" y="4287292"/>
            <a:ext cx="38100" cy="2940844"/>
          </a:xfrm>
          <a:prstGeom prst="rect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17516475" y="4287292"/>
            <a:ext cx="9525" cy="2940844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6354425" y="4468267"/>
            <a:ext cx="10096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checkpoint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791700" y="4639717"/>
            <a:ext cx="76033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准备好离开研究阶段，当且仅当四项全 yes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665018" y="5001667"/>
            <a:ext cx="7584758" cy="1950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相关 concept / source-summary 已查过（或确认没有）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SOTA 论文已 ingest 到 wiki/source-summaries/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specs/archive 历史已审，避免重蹈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specs/active/&lt;slug&gt;.md 已起稿，含目标 / 边界 / verification 标准</a:t>
            </a:r>
            <a:endParaRPr lang="en-US" sz="14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14350"/>
            <a:ext cx="57150" cy="57150"/>
          </a:xfrm>
          <a:prstGeom prst="ellipse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271957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03 · 研究阶段 RESEARCH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062996" y="457200"/>
            <a:ext cx="729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32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028700"/>
            <a:ext cx="14716125" cy="7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kern="0" spc="-86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研究阶段 </a:t>
            </a:r>
            <a:r>
              <a:rPr lang="en-US" sz="4800" i="1" kern="0" spc="-86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三大挑战。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62000" y="2267992"/>
            <a:ext cx="5283101" cy="4286250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620196" y="2448967"/>
            <a:ext cx="2629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4425" y="2620417"/>
            <a:ext cx="47155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Confirmation bias 升级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14425" y="2982367"/>
            <a:ext cx="47155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8A7F7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 跟着你走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14425" y="3410992"/>
            <a:ext cx="4715598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 Claude 找证据支持你已经相信的，它就会找到。问它 size 一个 problem，它会给那个让你的方法看起来 fundable 的数字。AI 跟着你走，所以「不问硬问题」的研究者可以为坏想法构造看起来研究充分的精致 case——速度比以往任何时候都快。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14425" y="5068342"/>
            <a:ext cx="4578251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114425" y="5211217"/>
            <a:ext cx="471559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解药： </a:t>
            </a: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 Claude 反向 pressure-test 你的假设，找 disconfirming evidence。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02301" y="2267992"/>
            <a:ext cx="5283250" cy="4286250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1360646" y="2448967"/>
            <a:ext cx="2629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4726" y="2620417"/>
            <a:ext cx="471575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漏读已 ingest 论文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854726" y="2982367"/>
            <a:ext cx="471575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8A7F7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不查 = 知识不存在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54726" y="3410992"/>
            <a:ext cx="471575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Hub wiki 已有 89 页知识，30+ source-summaries 已涵盖 USBL 9 篇博士论文 + doppler 6 篇期刊。但 query 这个动作如果不做，相当于知识从未存在。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4726" y="4458742"/>
            <a:ext cx="45784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854726" y="4601617"/>
            <a:ext cx="471575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解药： </a:t>
            </a: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层渐进披露（index → log → 详），每次 ≤3 页 Read，超过说明检索不够精准回 Step 1 改关键词。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242750" y="2267992"/>
            <a:ext cx="5283250" cy="4286250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7101096" y="2448967"/>
            <a:ext cx="2629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2595175" y="2620417"/>
            <a:ext cx="471575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跳过 specs 直接 code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595175" y="2982367"/>
            <a:ext cx="471575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8A7F7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没有 trace 的代码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2595175" y="3410992"/>
            <a:ext cx="4715752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agentic 编程让 code 太容易，于是跳过 spec / plan 直接开写。但没有 spec 的代码，第二天回来不知道为何这么写、第三个迭代失去主线、半个月后 wiki 没有任何 trace。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2595175" y="4763542"/>
            <a:ext cx="45784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2595175" y="4906417"/>
            <a:ext cx="4715752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解药： </a:t>
            </a: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硬约束 specs/active → plans → 讨论 → code → specs/archive 工序（feedback_ohmybrain_workflow），用户主导审批。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14350"/>
            <a:ext cx="57150" cy="57150"/>
          </a:xfrm>
          <a:prstGeom prst="ellipse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271957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03 · 研究阶段 RESEARCH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062996" y="457200"/>
            <a:ext cx="729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32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028700"/>
            <a:ext cx="14716125" cy="7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kern="0" spc="-86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Claude 怎么帮 </a:t>
            </a:r>
            <a:r>
              <a:rPr lang="en-US" sz="4800" i="1" kern="0" spc="-86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研究阶段。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62000" y="2267992"/>
            <a:ext cx="5359301" cy="2061567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122962" y="2448967"/>
            <a:ext cx="8364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练习 · 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4425" y="2620417"/>
            <a:ext cx="479408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扫描 raw/ 与 wiki 对照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14425" y="2982367"/>
            <a:ext cx="4794084" cy="956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给一个新主题，让 Claude 跑 </a:t>
            </a:r>
            <a:r>
              <a:rPr lang="en-US" sz="1380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/ingest </a:t>
            </a: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无参数扫描 raw/，对比 wiki/index.md，列出已摄入 vs 未摄入清单。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64201" y="2267992"/>
            <a:ext cx="5359450" cy="2061567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825311" y="2448967"/>
            <a:ext cx="8364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练习 · 02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16626" y="2620417"/>
            <a:ext cx="47942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层渐进披露查询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816626" y="2982367"/>
            <a:ext cx="479423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先读 wiki/index.md（不读正文），再读 wiki/log.md 时间段定位最近修改，最后只读 ≤3 个最相关页面。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166550" y="2267992"/>
            <a:ext cx="5359450" cy="2061567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6527661" y="2448967"/>
            <a:ext cx="8364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练习 · 03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518975" y="2620417"/>
            <a:ext cx="47942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起稿前反向 audit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2518975" y="2982367"/>
            <a:ext cx="479423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specs/active 起稿前，让 Claude 反向 audit：「这个想法是否已在 concept 页存在？是否与某 source-summary 5 条结论之一冲突？」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62000" y="4672459"/>
            <a:ext cx="5359301" cy="2057400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122962" y="4853434"/>
            <a:ext cx="8364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练习 · 04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14425" y="5024884"/>
            <a:ext cx="479408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复杂论文走子代理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14425" y="5386834"/>
            <a:ext cx="479408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复杂论文（≥10 页或数学密集）走 wiki-ingester 子代理路径 B，独立上下文；主会话代写后备（doppler 6 篇并行实测：6 个 agent 中 5 个需主会话代写）。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64201" y="4672459"/>
            <a:ext cx="5359450" cy="2057400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0825311" y="4853434"/>
            <a:ext cx="8364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练习 · 05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16626" y="5024884"/>
            <a:ext cx="47942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跨项目 query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816626" y="5386834"/>
            <a:ext cx="479423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UWAcomm 工作中也 query Hub wiki，看 USBL 9 篇博士论文里是否有可借鉴的 doppler 处理或阵列处理思路。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2166550" y="4672459"/>
            <a:ext cx="5359450" cy="2057400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6527661" y="4853434"/>
            <a:ext cx="8364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练习 · 06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2518975" y="5024884"/>
            <a:ext cx="47942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研究结论回流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2518975" y="5386834"/>
            <a:ext cx="4794238" cy="656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跨项目通用结论用 </a:t>
            </a:r>
            <a:r>
              <a:rPr lang="en-US" sz="1380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/promote-answer </a:t>
            </a: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（项目→Hub），私人项目用 </a:t>
            </a:r>
            <a:r>
              <a:rPr lang="en-US" sz="1380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&lt;private&gt; </a:t>
            </a: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标签拦截外泄。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06515" y="1143000"/>
            <a:ext cx="5457106" cy="457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250"/>
              </a:lnSpc>
              <a:buNone/>
            </a:pPr>
            <a:r>
              <a:rPr lang="en-US" sz="40000" i="1" kern="0" spc="-1680" dirty="0">
                <a:solidFill>
                  <a:srgbClr val="15120E">
                    <a:alpha val="8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417232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kern="0" spc="297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FOUR · 第四章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857500"/>
            <a:ext cx="4762500" cy="266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7214741"/>
            <a:ext cx="17266920" cy="1776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900" kern="0" spc="-322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Spec + Build </a:t>
            </a:r>
            <a:r>
              <a:rPr lang="en-US" sz="12900" i="1" kern="0" spc="-322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阶段。</a:t>
            </a:r>
            <a:endParaRPr lang="en-US" sz="12900" dirty="0"/>
          </a:p>
        </p:txBody>
      </p:sp>
      <p:sp>
        <p:nvSpPr>
          <p:cNvPr id="6" name="Text 3"/>
          <p:cNvSpPr/>
          <p:nvPr/>
        </p:nvSpPr>
        <p:spPr>
          <a:xfrm>
            <a:off x="16936343" y="9610725"/>
            <a:ext cx="85635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68" dirty="0">
                <a:solidFill>
                  <a:srgbClr val="1512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</a:t>
            </a:r>
            <a:r>
              <a:rPr lang="en-US" sz="1350" kern="0" spc="68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32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14350"/>
            <a:ext cx="57150" cy="57150"/>
          </a:xfrm>
          <a:prstGeom prst="ellipse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28020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04 · SPEC + BUILD 阶段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062996" y="457200"/>
            <a:ext cx="729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32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028700"/>
            <a:ext cx="14716125" cy="7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kern="0" spc="-86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Spec + Build 阶段：</a:t>
            </a:r>
            <a:r>
              <a:rPr lang="en-US" sz="4800" i="1" kern="0" spc="-86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目标与退出条件。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62000" y="2267992"/>
            <a:ext cx="8115300" cy="2460427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052346" y="2448967"/>
            <a:ext cx="663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阶段目标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4425" y="2620417"/>
            <a:ext cx="76327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项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87742" y="2982367"/>
            <a:ext cx="7613333" cy="146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把研究阶段定义的「问题 + 方法」转化为可工作的 V1 算法函数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在移动得足够快的同时，不积累那种会随着 V→V→V 复利的 agentic 技术债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从第 0 天就投资持久上下文：CLAUDE.md + specs/active/&lt;slug&gt;.md + memory 5 层栈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762000" y="4995118"/>
            <a:ext cx="8115300" cy="2431852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052346" y="5176093"/>
            <a:ext cx="663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前置任务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14425" y="5347543"/>
            <a:ext cx="76327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Prerequisites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87742" y="5680918"/>
            <a:ext cx="7613333" cy="146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CLAUDE.md 三层（global / project / worktree）齐备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specs/active/ 单 spec 单职责（避免 scope creep）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边界约定：写代码前列 verification 标准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9410700" y="2267992"/>
            <a:ext cx="8115300" cy="2879527"/>
          </a:xfrm>
          <a:prstGeom prst="rect">
            <a:avLst/>
          </a:prstGeom>
          <a:solidFill>
            <a:srgbClr val="FAF7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410700" y="5137993"/>
            <a:ext cx="81153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9410700" y="2267992"/>
            <a:ext cx="81153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9410700" y="2267992"/>
            <a:ext cx="38100" cy="2879527"/>
          </a:xfrm>
          <a:prstGeom prst="rect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7516475" y="2267992"/>
            <a:ext cx="9525" cy="2879527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6701046" y="2448967"/>
            <a:ext cx="663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退出条件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791700" y="2620417"/>
            <a:ext cx="76033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specs/active → archive 转移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791700" y="2982367"/>
            <a:ext cx="76033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满足三项 trigger 才进 archive：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65018" y="3401467"/>
            <a:ext cx="7584758" cy="146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spec 全实施 + 跑通至少 1 round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用户主导确认（不代下「完成 / work / 闭环」结论）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 worktree 一致（main / claude / codex 不漂移）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9410700" y="5414218"/>
            <a:ext cx="8115300" cy="2057400"/>
          </a:xfrm>
          <a:prstGeom prst="rect">
            <a:avLst/>
          </a:prstGeom>
          <a:solidFill>
            <a:srgbClr val="EBE5D6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6994386" y="5595193"/>
            <a:ext cx="3696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反例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763125" y="5766643"/>
            <a:ext cx="76327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未达条件就 archive 的代价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763125" y="6128593"/>
            <a:ext cx="763276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2026-05-12 claude+codex 集成需手动合并 modem_decode_scfde V4.1 + LS fallback 51 行净增；spec 状态分裂修正——archive 追加 codex 2026-04-26 A2 段 + 删 2 active 副本。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14350"/>
            <a:ext cx="57150" cy="57150"/>
          </a:xfrm>
          <a:prstGeom prst="ellipse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28020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04 · SPEC + BUILD 阶段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062996" y="457200"/>
            <a:ext cx="729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32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028700"/>
            <a:ext cx="14716125" cy="7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kern="0" spc="-86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Spec + Build 阶段 </a:t>
            </a:r>
            <a:r>
              <a:rPr lang="en-US" sz="4800" i="1" kern="0" spc="-86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四大挑战。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62000" y="2267992"/>
            <a:ext cx="8229600" cy="2809875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566696" y="2448967"/>
            <a:ext cx="2629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4425" y="2620417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 技术债（复利）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14425" y="2982367"/>
            <a:ext cx="775049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不像普通技术债线性增长可在专项 sprint 清掉，agentic 技术债复利。codex worktree 实验积累不归并主分支 → 三路实现漂移 → 集成成本爆炸。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4425" y="3706267"/>
            <a:ext cx="775049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350" i="1" dirty="0">
                <a:solidFill>
                  <a:srgbClr val="8A7F7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案例：2026-05-12 claude worktree 吸收 codex 独有 175 文件 + 手动合并 V4.1+LS fallback 51 行（高 SNR clamp 与 GAMP-bad fallback 正交共存）。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296400" y="2267992"/>
            <a:ext cx="8229600" cy="2809875"/>
          </a:xfrm>
          <a:prstGeom prst="rect">
            <a:avLst/>
          </a:prstGeom>
          <a:solidFill>
            <a:srgbClr val="FAF7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9296400" y="5068342"/>
            <a:ext cx="82296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9296400" y="2267992"/>
            <a:ext cx="8229600" cy="38100"/>
          </a:xfrm>
          <a:prstGeom prst="rect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9296400" y="2267992"/>
            <a:ext cx="9525" cy="280987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7516475" y="2267992"/>
            <a:ext cx="9525" cy="280987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6074330" y="2477542"/>
            <a:ext cx="12897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CRITICAL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48825" y="2648992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假完成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648825" y="3010942"/>
            <a:ext cx="775049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跑完脚本后习惯下「完美 / work / 闭环」结论，但算法对不对只有人能判。这是最严重的反模式。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48825" y="3734842"/>
            <a:ext cx="775049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解药： </a:t>
            </a: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feedback_uwacomm_testing_boundary 硬边界——Claude 写完脚本停下等用户跑，每 checkpoint 停止确认。UWAcomm-claude 自主迭代分支例外（允许代跑+决策），但仍不代下结论。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62000" y="5382667"/>
            <a:ext cx="8229600" cy="2171700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566696" y="5563642"/>
            <a:ext cx="2629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14425" y="5735092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零摩擦的 scope creep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14425" y="6097042"/>
            <a:ext cx="775049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加 1 个算法功能成本接近零 → 容易在一个 spec 里塞 4 个新功能。但 spec 边界一糊，verification 也跟着糊。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14425" y="6820942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解药：</a:t>
            </a: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specs/active 单职责硬约束，scope 改变必须新建 spec 而非追加。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296400" y="5382667"/>
            <a:ext cx="8229600" cy="2171700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7101096" y="5563642"/>
            <a:ext cx="2629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648825" y="5735092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跳过 spec 直接动手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648825" y="6097042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研究阶段如果跳过 → 进 Build 阶段没有依据，每个 session 重新推断决策。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48825" y="6516142"/>
            <a:ext cx="775049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解药： </a:t>
            </a: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feedback_ohmybrain_workflow 硬工序 specs→plans→讨论→code，跳一步就回去。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14350"/>
            <a:ext cx="57150" cy="57150"/>
          </a:xfrm>
          <a:prstGeom prst="ellipse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28020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04 · SPEC + BUILD 阶段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062996" y="457200"/>
            <a:ext cx="729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32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028700"/>
            <a:ext cx="14716125" cy="7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kern="0" spc="-86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 层 Memory 栈 </a:t>
            </a:r>
            <a:r>
              <a:rPr lang="en-US" sz="4800" i="1" kern="0" spc="-86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作架构记忆。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62000" y="2267992"/>
            <a:ext cx="1275397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251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在 Claude Code 写第一行代码之前，5 层 memory 栈必须齐备：每个 session 自动 reload 上下文，结束时追加决策日志。这是「session 之间不漂移」的地基。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2000" y="3410992"/>
            <a:ext cx="83587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26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层 · 决策树：新信息放哪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62000" y="3715792"/>
            <a:ext cx="8115300" cy="752475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23925" y="3858667"/>
            <a:ext cx="6858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04975" y="3858667"/>
            <a:ext cx="722071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12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全局默认 </a:t>
            </a:r>
            <a:r>
              <a:rPr lang="en-US" sz="1050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~/.claude/CLAUDE.md </a:t>
            </a:r>
            <a:r>
              <a:rPr lang="en-US" sz="1275" dirty="0">
                <a:solidFill>
                  <a:srgbClr val="8A7F7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跨项目恒久指令（中文 / Windows bash / 用户主导结论）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2000" y="4563517"/>
            <a:ext cx="8115300" cy="752475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23925" y="4706392"/>
            <a:ext cx="6858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04975" y="4706392"/>
            <a:ext cx="722071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12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项目级 </a:t>
            </a:r>
            <a:r>
              <a:rPr lang="en-US" sz="1050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D:/Claude/CLAUDE.md + 项目 CLAUDE.md </a:t>
            </a:r>
            <a:r>
              <a:rPr lang="en-US" sz="1275" dirty="0">
                <a:solidFill>
                  <a:srgbClr val="8A7F7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项目地图 / 模块清单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2000" y="5411242"/>
            <a:ext cx="8115300" cy="752475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23925" y="5554117"/>
            <a:ext cx="6858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04975" y="5554117"/>
            <a:ext cx="722071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12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auto-memory </a:t>
            </a:r>
            <a:r>
              <a:rPr lang="en-US" sz="1050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projects/D--Claude/memory/ </a:t>
            </a:r>
            <a:r>
              <a:rPr lang="en-US" sz="1275" dirty="0">
                <a:solidFill>
                  <a:srgbClr val="8A7F7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项目动态记忆 50+ 条目（user / feedback / project / reference 4 类型）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2000" y="6258967"/>
            <a:ext cx="8115300" cy="752475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23925" y="6401842"/>
            <a:ext cx="6858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04975" y="6401842"/>
            <a:ext cx="722071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12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MCP knowledge graph </a:t>
            </a:r>
            <a:r>
              <a:rPr lang="en-US" sz="1050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~/.claude/memory/graph.jsonl </a:t>
            </a:r>
            <a:r>
              <a:rPr lang="en-US" sz="1275" dirty="0">
                <a:solidFill>
                  <a:srgbClr val="8A7F7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UWAcomm α 补偿 17 实体 + 23 关系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2000" y="7106692"/>
            <a:ext cx="8115300" cy="752475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23925" y="7249567"/>
            <a:ext cx="6858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04975" y="7249567"/>
            <a:ext cx="722071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12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Ohmybrain Hub wiki </a:t>
            </a:r>
            <a:r>
              <a:rPr lang="en-US" sz="1275" dirty="0">
                <a:solidFill>
                  <a:srgbClr val="8A7F7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跨项目人类可读知识沉淀（88+ 页）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10700" y="3410992"/>
            <a:ext cx="8115300" cy="2431852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6701046" y="3591967"/>
            <a:ext cx="663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维护节奏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763125" y="3763417"/>
            <a:ext cx="76327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Cadence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636443" y="4096792"/>
            <a:ext cx="7613333" cy="146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Session 开始自动加载 Layer 1+2（CLAUDE.md），按需读 Layer 3+5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Session 结束追加 Layer 3 条目（auto-memory）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跨项目通用结论 promote 到 Layer 5（Hub wiki）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9410700" y="6185743"/>
            <a:ext cx="8115300" cy="1273373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715500" y="6490543"/>
            <a:ext cx="77308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地基 / FOUNDATION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715500" y="6795343"/>
            <a:ext cx="7730871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F2EEE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 </a:t>
            </a:r>
            <a:r>
              <a:rPr lang="en-US" sz="1950" i="1" dirty="0">
                <a:solidFill>
                  <a:srgbClr val="B14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「session 之间不漂移」</a:t>
            </a:r>
            <a:r>
              <a:rPr lang="en-US" sz="1950" dirty="0">
                <a:solidFill>
                  <a:srgbClr val="F2EEE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的地基。</a:t>
            </a:r>
            <a:endParaRPr lang="en-US" sz="1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14350"/>
            <a:ext cx="57150" cy="57150"/>
          </a:xfrm>
          <a:prstGeom prst="ellipse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28020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04 · SPEC + BUILD 阶段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062996" y="457200"/>
            <a:ext cx="729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32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028700"/>
            <a:ext cx="14716125" cy="7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kern="0" spc="-86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V→V→V 递进版本 </a:t>
            </a:r>
            <a:r>
              <a:rPr lang="en-US" sz="4800" i="1" kern="0" spc="-86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作 PMF 双指标。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62000" y="2267992"/>
            <a:ext cx="5384750" cy="3421261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428506" y="2448967"/>
            <a:ext cx="5563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指标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4425" y="2620417"/>
            <a:ext cx="482029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上一 V RCA 完成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14425" y="2982367"/>
            <a:ext cx="482029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不代下「完成」结论，必须用户确认 BER / NMSE 数字落到预期区间，才能开下一 V。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51550" y="2267992"/>
            <a:ext cx="5384750" cy="3421261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118056" y="2448967"/>
            <a:ext cx="5563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指标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03975" y="2620417"/>
            <a:ext cx="482029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项回归 test 全通过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677293" y="2982367"/>
            <a:ext cx="4882783" cy="2430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标准 SNR vs BER 矩阵（24/24 PASS）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 SNR 边界（SNR ≥ 25dB 不退化）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jakes fd=1Hz 慢衰落（不灾难退化）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 4 体制接口移植一致性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simple UI v2.0 流式（chunk 无 race）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2141101" y="2267992"/>
            <a:ext cx="5384750" cy="3421261"/>
          </a:xfrm>
          <a:prstGeom prst="rect">
            <a:avLst/>
          </a:prstGeom>
          <a:solidFill>
            <a:srgbClr val="EBE5D6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6994237" y="2448967"/>
            <a:ext cx="3696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类比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493526" y="2620417"/>
            <a:ext cx="482029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PMF 双指标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2493526" y="2982367"/>
            <a:ext cx="482029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 Anthropic Sean Ellis 40% + effort test 双指标——单一数据点不能确认 PMF，需要跨多个 V 周期都成立。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2000" y="6032153"/>
            <a:ext cx="172669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26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案例 · V→V→V 递进的数据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2000" y="6375053"/>
            <a:ext cx="3215580" cy="19050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62000" y="6527453"/>
            <a:ext cx="33120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SC-TDE V5.4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762000" y="6746528"/>
            <a:ext cx="331204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50% → 0.29%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62000" y="7260878"/>
            <a:ext cx="33120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post-CFO fix · </a:t>
            </a:r>
            <a:r>
              <a:rPr lang="en-US" sz="1200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172× </a:t>
            </a:r>
            <a:r>
              <a:rPr lang="en-US" sz="12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才进 V5.5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49030" y="6375053"/>
            <a:ext cx="3215580" cy="19050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149030" y="6527453"/>
            <a:ext cx="33120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V5.5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149030" y="6746528"/>
            <a:ext cx="331204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fd=1Hz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149030" y="7222778"/>
            <a:ext cx="33120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iter 反向收敛 R5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36061" y="6375053"/>
            <a:ext cx="3215729" cy="19050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536061" y="6527453"/>
            <a:ext cx="331220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V5.6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7536061" y="6746528"/>
            <a:ext cx="331220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 / 5 PASS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536061" y="7222778"/>
            <a:ext cx="331220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HFM-signature calibration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923240" y="6375053"/>
            <a:ext cx="3215580" cy="19050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0923240" y="6527453"/>
            <a:ext cx="33120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SC-FDE V4.1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0923240" y="6746528"/>
            <a:ext cx="331204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50.23% → 0.43%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0923240" y="7260878"/>
            <a:ext cx="33120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 SNR clamp · </a:t>
            </a:r>
            <a:r>
              <a:rPr lang="en-US" sz="1200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117×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4310271" y="6375053"/>
            <a:ext cx="3215729" cy="19050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4310271" y="6527453"/>
            <a:ext cx="331220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SC-FDE V4.1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14310271" y="6746528"/>
            <a:ext cx="331220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48.71% → 0.53%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4310271" y="7260878"/>
            <a:ext cx="331220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SNR=80 边界 · </a:t>
            </a:r>
            <a:r>
              <a:rPr lang="en-US" sz="1200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94×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930743" y="1143000"/>
            <a:ext cx="5732877" cy="457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250"/>
              </a:lnSpc>
              <a:buNone/>
            </a:pPr>
            <a:r>
              <a:rPr lang="en-US" sz="40000" i="1" kern="0" spc="-1680" dirty="0">
                <a:solidFill>
                  <a:srgbClr val="15120E">
                    <a:alpha val="8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05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417232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kern="0" spc="297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FIVE · 第五章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667000"/>
            <a:ext cx="4762500" cy="304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1080" y="5886003"/>
            <a:ext cx="17266920" cy="1776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900" kern="0" spc="-322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Verify + RCA </a:t>
            </a:r>
            <a:r>
              <a:rPr lang="zh-CN" altLang="en-US" sz="12900" kern="0" spc="-322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Noto Serif SC" pitchFamily="34" charset="-120"/>
              </a:rPr>
              <a:t>阶段</a:t>
            </a:r>
            <a:endParaRPr lang="en-US" sz="12900" dirty="0"/>
          </a:p>
        </p:txBody>
      </p:sp>
      <p:sp>
        <p:nvSpPr>
          <p:cNvPr id="6" name="Text 3"/>
          <p:cNvSpPr/>
          <p:nvPr/>
        </p:nvSpPr>
        <p:spPr>
          <a:xfrm>
            <a:off x="16936343" y="9610725"/>
            <a:ext cx="85635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68" dirty="0">
                <a:solidFill>
                  <a:srgbClr val="1512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</a:t>
            </a:r>
            <a:r>
              <a:rPr lang="en-US" sz="1350" kern="0" spc="68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32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14350"/>
            <a:ext cx="57150" cy="57150"/>
          </a:xfrm>
          <a:prstGeom prst="ellipse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28020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05 · VERIFY + RCA 阶段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062996" y="457200"/>
            <a:ext cx="729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/ 32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028700"/>
            <a:ext cx="14716125" cy="7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kern="0" spc="-86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Verify + RCA 阶段：</a:t>
            </a:r>
            <a:r>
              <a:rPr lang="en-US" sz="4800" i="1" kern="0" spc="-86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目标与退出条件。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62000" y="2267992"/>
            <a:ext cx="38100" cy="972443"/>
          </a:xfrm>
          <a:prstGeom prst="rect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90600" y="2267992"/>
            <a:ext cx="16685133" cy="1010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150" kern="0" spc="-57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如果 Spec + Build 阶段是证明算法能跑，Verify + RCA 阶段是证明算法</a:t>
            </a:r>
            <a:r>
              <a:rPr lang="en-US" sz="3150" i="1" kern="0" spc="-57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对 </a:t>
            </a:r>
            <a:r>
              <a:rPr lang="en-US" sz="3150" kern="0" spc="-57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。这两件事看似一回事，实际隔着一条最深的工程鸿沟—— </a:t>
            </a:r>
            <a:r>
              <a:rPr lang="en-US" sz="3150" kern="0" spc="-57" dirty="0">
                <a:solidFill>
                  <a:srgbClr val="B14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可跑 ≠ 对。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762000" y="3583335"/>
            <a:ext cx="8115300" cy="2460427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052346" y="3764310"/>
            <a:ext cx="663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阶段目标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14425" y="3935760"/>
            <a:ext cx="76327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证明算法「对」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87742" y="4297710"/>
            <a:ext cx="7613333" cy="146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定位算法在哪个 SNR / 信道 / 参数边界失效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单根因审计：用 D9/D10 toggle 把症状定位到单一根因，不接受多根因混淆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 worktree / 跨 runner 一致性确认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762000" y="6272361"/>
            <a:ext cx="8115300" cy="2431852"/>
          </a:xfrm>
          <a:prstGeom prst="rect">
            <a:avLst/>
          </a:prstGeom>
          <a:solidFill>
            <a:srgbClr val="FAF7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62000" y="8694688"/>
            <a:ext cx="81153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62000" y="6272361"/>
            <a:ext cx="81153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62000" y="6272361"/>
            <a:ext cx="38100" cy="2431852"/>
          </a:xfrm>
          <a:prstGeom prst="rect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867775" y="6272361"/>
            <a:ext cx="9525" cy="2431852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718971" y="6453336"/>
            <a:ext cx="9964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个退出条件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43000" y="6624786"/>
            <a:ext cx="760333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Exit conditions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16317" y="6958161"/>
            <a:ext cx="7584758" cy="146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单根因定位（不是多根因混淆，不是 plan C 时变证伪反例那种）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项回归 test 全通过 + 灾难率量化（5 体制 SC-TDE/DSSS 等 α 边界）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 worktree 一致性（claude / codex / main 三路不漂移，2026-05-12 集成案例）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9410700" y="3583335"/>
            <a:ext cx="8115300" cy="3166170"/>
          </a:xfrm>
          <a:prstGeom prst="rect">
            <a:avLst/>
          </a:prstGeom>
          <a:solidFill>
            <a:srgbClr val="EBE5D6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6994386" y="3764310"/>
            <a:ext cx="3696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反例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763125" y="3935760"/>
            <a:ext cx="76327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未达条件的代价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763125" y="4297710"/>
            <a:ext cx="76327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2026-05-16 双回归 RCA：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972675" y="4812060"/>
            <a:ext cx="7423213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rx_stream_p4 接口移植后 test 1+2 algo A FAIL（V4.1+零噪+LS fallback trigger 失效三方耦合）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9763125" y="5468094"/>
            <a:ext cx="741045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972675" y="5572869"/>
            <a:ext cx="7423213" cy="324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test 5 fd=1Hz 50% 回归（vs </a:t>
            </a: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a291af4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baseline 3.37%，</a:t>
            </a:r>
            <a:r>
              <a:rPr lang="en-US" sz="1425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14× 退化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9763125" y="5954762"/>
            <a:ext cx="741045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972675" y="6059537"/>
            <a:ext cx="7423213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algo B 待 RCA</a:t>
            </a:r>
            <a:endParaRPr lang="en-US" sz="14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14350"/>
            <a:ext cx="57150" cy="57150"/>
          </a:xfrm>
          <a:prstGeom prst="ellipse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28020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05 · VERIFY + RCA 阶段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062996" y="457200"/>
            <a:ext cx="729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/ 32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028700"/>
            <a:ext cx="14716125" cy="7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kern="0" spc="-86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Verify + RCA 阶段 </a:t>
            </a:r>
            <a:r>
              <a:rPr lang="en-US" sz="4800" i="1" kern="0" spc="-86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四大挑战。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62000" y="2267992"/>
            <a:ext cx="8229600" cy="2505075"/>
          </a:xfrm>
          <a:prstGeom prst="rect">
            <a:avLst/>
          </a:prstGeom>
          <a:solidFill>
            <a:srgbClr val="FAF7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62000" y="4763542"/>
            <a:ext cx="82296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62000" y="2267992"/>
            <a:ext cx="8229600" cy="38100"/>
          </a:xfrm>
          <a:prstGeom prst="rect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2000" y="2267992"/>
            <a:ext cx="9525" cy="250507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982075" y="2267992"/>
            <a:ext cx="9525" cy="250507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406580" y="2477542"/>
            <a:ext cx="14230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最严重反模式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14425" y="2648992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代下结论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14425" y="3010942"/>
            <a:ext cx="775049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脚本跑完后下「完美 / work / 闭环」结论是 anti-pattern——算法对不对只有人能判。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4425" y="3734842"/>
            <a:ext cx="775049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解药： </a:t>
            </a: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feedback_uwacomm_testing_boundary 边界，只陈述事实「NMSE 从 X 变成 Y」，判断留给用户。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296400" y="2267992"/>
            <a:ext cx="8229600" cy="2505075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7101096" y="2448967"/>
            <a:ext cx="2629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48825" y="2620417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多根因混淆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648825" y="2982367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症状 A 实际由 X+Y+Z 三因耦合，一次只 fix 一个看不到改善。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48825" y="3401467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解药：</a:t>
            </a: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single root cause audit（D9/D10 toggle + 跨 runner）。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48825" y="3820567"/>
            <a:ext cx="7750492" cy="34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i="1" dirty="0">
                <a:solidFill>
                  <a:srgbClr val="8A7F7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案例：DSSS V1.2 43% → 0% 单根因定位（commits </a:t>
            </a:r>
            <a:r>
              <a:rPr lang="en-US" sz="1380" i="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6613041</a:t>
            </a:r>
            <a:r>
              <a:rPr lang="en-US" sz="1500" i="1" dirty="0">
                <a:solidFill>
                  <a:srgbClr val="8A7F7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r>
              <a:rPr lang="en-US" sz="1380" i="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58f1ec0</a:t>
            </a:r>
            <a:r>
              <a:rPr lang="en-US" sz="1500" i="1" dirty="0">
                <a:solidFill>
                  <a:srgbClr val="8A7F7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2000" y="5077867"/>
            <a:ext cx="8229600" cy="2171700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566696" y="5258842"/>
            <a:ext cx="2629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14425" y="5430292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C 时变证伪反例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14425" y="5792242"/>
            <a:ext cx="775049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把症状错误归因到「时变性」常见但危险。SC-TDE V5.4 RCA 中曾假设 plan C 时变，跨 runner 审计证伪——真根因是 post-CFO 单一 bug。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14425" y="6516142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i="1" dirty="0">
                <a:solidFill>
                  <a:srgbClr val="8A7F7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限 MATLAB 算法 RCA，不外推。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296400" y="5077867"/>
            <a:ext cx="8229600" cy="2171700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7101096" y="5258842"/>
            <a:ext cx="2629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48825" y="5430292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跨 worktree 漂移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648825" y="5792242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main / claude / codex 三路长期分离 → 三套实现「都跑」但 BER 不同。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48825" y="6211342"/>
            <a:ext cx="775049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解药： </a:t>
            </a: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周期性集成（5-12 那次 claude 吸收 codex 175 文件 + rx_stream_p4 保留 claude 350 行弃 codex 731 superset）。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14350"/>
            <a:ext cx="57150" cy="57150"/>
          </a:xfrm>
          <a:prstGeom prst="ellipse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28020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05 · VERIFY + RCA 阶段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062996" y="457200"/>
            <a:ext cx="729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/ 32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028700"/>
            <a:ext cx="14716125" cy="7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kern="0" spc="-86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Single Root Cause Audit </a:t>
            </a:r>
            <a:r>
              <a:rPr lang="en-US" sz="4800" i="1" kern="0" spc="-86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方法。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62000" y="2267992"/>
            <a:ext cx="8115300" cy="2940844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505700" y="2448967"/>
            <a:ext cx="12096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步骤 · Method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4425" y="2620417"/>
            <a:ext cx="76327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步骤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23975" y="3077617"/>
            <a:ext cx="7423213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D9/D10 toggle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：在脚本里加 enable / disable 某一 fix 的开关，对比开关前后 BER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1114425" y="3453259"/>
            <a:ext cx="741045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323975" y="3558034"/>
            <a:ext cx="7423213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 4 runner audit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：4 个独立测试 runner 都跑，看 fix 是否在所有 runner 上一致改善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114425" y="3933676"/>
            <a:ext cx="741045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323975" y="4038451"/>
            <a:ext cx="7423213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单一根因定位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：不分支并行多 fix，确认 X 是根因再动 Y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114425" y="4414093"/>
            <a:ext cx="741045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323975" y="4518868"/>
            <a:ext cx="7423213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反例标注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：如果跨 runner 行为不一致，记下来作为反例（避免下次重蹈）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762000" y="5437436"/>
            <a:ext cx="8115300" cy="2028825"/>
          </a:xfrm>
          <a:prstGeom prst="rect">
            <a:avLst/>
          </a:prstGeom>
          <a:solidFill>
            <a:srgbClr val="EBE5D6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345686" y="5618411"/>
            <a:ext cx="3696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限定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14425" y="5789861"/>
            <a:ext cx="76327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Scope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14425" y="6123236"/>
            <a:ext cx="763276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此方法明文限 MATLAB 算法 RCA，不外推到一般工程。原因：算法 RCA 的因果链通常深而窄（数值精度 / 参数耦合 / 边界条件），单一 fix 解释全部是常态；工程 bug 的因果链可能并联多源。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410700" y="2267992"/>
            <a:ext cx="8115300" cy="5865019"/>
          </a:xfrm>
          <a:prstGeom prst="rect">
            <a:avLst/>
          </a:prstGeom>
          <a:solidFill>
            <a:srgbClr val="FAF7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9410700" y="8123486"/>
            <a:ext cx="81153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9410700" y="2267992"/>
            <a:ext cx="81153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9410700" y="2267992"/>
            <a:ext cx="38100" cy="5865019"/>
          </a:xfrm>
          <a:prstGeom prst="rect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7516475" y="2267992"/>
            <a:ext cx="9525" cy="5865019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6060936" y="2448967"/>
            <a:ext cx="13031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案例 deep dive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791700" y="2620417"/>
            <a:ext cx="760333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DSSS V1.2 audit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791700" y="3068092"/>
            <a:ext cx="19050" cy="48577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982200" y="3068092"/>
            <a:ext cx="74071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SYMPTOM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9982200" y="3268117"/>
            <a:ext cx="74071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512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43% BER 灾难率（α=+1e-2 边界）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9791700" y="3725317"/>
            <a:ext cx="19050" cy="48577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982200" y="3725317"/>
            <a:ext cx="74071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INITIAL HYPOTHESIS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9982200" y="3925342"/>
            <a:ext cx="74071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512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plan C 时变性（被跨 runner audit 证伪）</a:t>
            </a:r>
            <a:endParaRPr lang="en-US" sz="1575" dirty="0"/>
          </a:p>
        </p:txBody>
      </p:sp>
      <p:sp>
        <p:nvSpPr>
          <p:cNvPr id="33" name="Shape 31"/>
          <p:cNvSpPr/>
          <p:nvPr/>
        </p:nvSpPr>
        <p:spPr>
          <a:xfrm>
            <a:off x="9791700" y="4382542"/>
            <a:ext cx="19050" cy="485775"/>
          </a:xfrm>
          <a:prstGeom prst="rect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9982200" y="4382542"/>
            <a:ext cx="74071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ROOT CAUSE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9982200" y="4582567"/>
            <a:ext cx="74071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512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DSSS Sun-2020 通带跟踪算法中 fc 反演单点错误</a:t>
            </a:r>
            <a:endParaRPr lang="en-US" sz="1575" dirty="0"/>
          </a:p>
        </p:txBody>
      </p:sp>
      <p:sp>
        <p:nvSpPr>
          <p:cNvPr id="36" name="Shape 34"/>
          <p:cNvSpPr/>
          <p:nvPr/>
        </p:nvSpPr>
        <p:spPr>
          <a:xfrm>
            <a:off x="9791700" y="5039767"/>
            <a:ext cx="19050" cy="485775"/>
          </a:xfrm>
          <a:prstGeom prst="rect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982200" y="5039767"/>
            <a:ext cx="74071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FIX RESULT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9982200" y="5239792"/>
            <a:ext cx="74071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0% 灾难率</a:t>
            </a:r>
            <a:r>
              <a:rPr lang="en-US" sz="1575" dirty="0">
                <a:solidFill>
                  <a:srgbClr val="1512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（单一 fix 解决全部，commit </a:t>
            </a:r>
            <a:r>
              <a:rPr lang="en-US" sz="1449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58f1ec0</a:t>
            </a:r>
            <a:r>
              <a:rPr lang="en-US" sz="1575" dirty="0">
                <a:solidFill>
                  <a:srgbClr val="1512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5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38671" y="1143000"/>
            <a:ext cx="4724949" cy="457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89250"/>
              </a:lnSpc>
              <a:buNone/>
            </a:pPr>
            <a:r>
              <a:rPr lang="en-US" sz="40000" i="1" kern="0" spc="-1680" dirty="0">
                <a:solidFill>
                  <a:srgbClr val="15120E">
                    <a:alpha val="8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06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402761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kern="0" spc="297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SIX · 第六章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857500"/>
            <a:ext cx="4762500" cy="266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5475982"/>
            <a:ext cx="17266920" cy="3515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800" kern="0" spc="-322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Promote + Archive</a:t>
            </a:r>
            <a:r>
              <a:rPr lang="zh-CN" altLang="en-US" sz="10800" kern="0" spc="-322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阶段</a:t>
            </a:r>
            <a:endParaRPr lang="en-US" sz="10800" dirty="0"/>
          </a:p>
        </p:txBody>
      </p:sp>
      <p:sp>
        <p:nvSpPr>
          <p:cNvPr id="6" name="Text 3"/>
          <p:cNvSpPr/>
          <p:nvPr/>
        </p:nvSpPr>
        <p:spPr>
          <a:xfrm>
            <a:off x="16936343" y="9610725"/>
            <a:ext cx="85635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68" dirty="0">
                <a:solidFill>
                  <a:srgbClr val="1512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 </a:t>
            </a:r>
            <a:r>
              <a:rPr lang="en-US" sz="1350" kern="0" spc="68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32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14350"/>
            <a:ext cx="57150" cy="57150"/>
          </a:xfrm>
          <a:prstGeom prst="ellipse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32827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06 · PROMOTE + ARCHIVE 阶段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062996" y="457200"/>
            <a:ext cx="729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 / 32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028700"/>
            <a:ext cx="14716125" cy="7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kern="0" spc="-86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Promote + Archive：</a:t>
            </a:r>
            <a:r>
              <a:rPr lang="en-US" sz="4800" i="1" kern="0" spc="-86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什么进 Hub，什么不进。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62000" y="2267992"/>
            <a:ext cx="1275397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251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不是所有结论都该 promote。Hub wiki 是跨项目知识终点，</a:t>
            </a:r>
            <a:r>
              <a:rPr lang="en-US" sz="2100" b="1" dirty="0">
                <a:solidFill>
                  <a:srgbClr val="2A251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不向上回流 </a:t>
            </a:r>
            <a:r>
              <a:rPr lang="en-US" sz="2100" dirty="0">
                <a:solidFill>
                  <a:srgbClr val="2A251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，所以进 Hub 的标准是「跨项目可复用」。区分这个边界是 Promote 阶段的核心判断。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62000" y="3410992"/>
            <a:ext cx="8115300" cy="3221236"/>
          </a:xfrm>
          <a:prstGeom prst="rect">
            <a:avLst/>
          </a:prstGeom>
          <a:solidFill>
            <a:srgbClr val="FAF7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62000" y="6622703"/>
            <a:ext cx="81153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2000" y="3410992"/>
            <a:ext cx="81153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62000" y="3410992"/>
            <a:ext cx="38100" cy="3221236"/>
          </a:xfrm>
          <a:prstGeom prst="rect">
            <a:avLst/>
          </a:prstGeom>
          <a:solidFill>
            <a:srgbClr val="2F4A3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867775" y="3410992"/>
            <a:ext cx="9525" cy="3221236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974657" y="3591967"/>
            <a:ext cx="74071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2F4A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ADMIT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43000" y="3763417"/>
            <a:ext cx="76033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可 promote · 跨项目可复用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16317" y="4125367"/>
            <a:ext cx="7584758" cy="2230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OTFS pilot tradeoff：3 方案 PAPR-NMSE-复杂度 tradeoff，OTFS 恢复时直接调用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MATLAB pitfalls：inf 字面量触发 double→struct 路径污染（feedback_matlab_inf_bug）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单根因审计法：D9/D10 toggle + 跨 runner audit（feedback_single_root_cause_audit）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篇 doppler 跨论文方法学合成（concepts/doppler-estimation-methods）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9410700" y="3410992"/>
            <a:ext cx="8115300" cy="3221236"/>
          </a:xfrm>
          <a:prstGeom prst="rect">
            <a:avLst/>
          </a:prstGeom>
          <a:solidFill>
            <a:srgbClr val="FAF7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9410700" y="6622703"/>
            <a:ext cx="81153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9410700" y="3410992"/>
            <a:ext cx="81153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9410700" y="3410992"/>
            <a:ext cx="38100" cy="3221236"/>
          </a:xfrm>
          <a:prstGeom prst="rect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7516475" y="3410992"/>
            <a:ext cx="9525" cy="3221236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6512183" y="3591967"/>
            <a:ext cx="8518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✗ REJECT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791700" y="3763417"/>
            <a:ext cx="76033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不 promote · 项目级具体进展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665018" y="4125367"/>
            <a:ext cx="7584758" cy="2230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UWAcomm V5.4 → V5.5 项目级 BER 数字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commit hash 与 git push 历史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单次 session 调试日志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私人项目（DocProcess 系：Pricing / UWAprojDoc / DigitalTwinGuide / PaperReview / CooperativeDetection / UWAcomm_usbl）硬约束不进公开 Hub</a:t>
            </a:r>
            <a:endParaRPr lang="en-US" sz="14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14350"/>
            <a:ext cx="57150" cy="57150"/>
          </a:xfrm>
          <a:prstGeom prst="ellipse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32827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06 · PROMOTE + ARCHIVE 阶段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062996" y="457200"/>
            <a:ext cx="729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 / 32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028700"/>
            <a:ext cx="14716125" cy="7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kern="0" spc="-86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Promote + Archive </a:t>
            </a:r>
            <a:r>
              <a:rPr lang="en-US" sz="4800" i="1" kern="0" spc="-86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四大挑战。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62000" y="2267992"/>
            <a:ext cx="8229600" cy="2590800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566696" y="2448967"/>
            <a:ext cx="2629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4425" y="2620417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过度 promote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14425" y="2982367"/>
            <a:ext cx="775049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把项目级状态硬塞到 Hub → wiki 被 commit hash / 调试日志污染 → 失去跨项目检索价值。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4425" y="3706267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解药：</a:t>
            </a: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promote 前自审「这个结论换到 USBL / UWAnet 项目是否仍有效」。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296400" y="2267992"/>
            <a:ext cx="8229600" cy="2590800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7101096" y="2448967"/>
            <a:ext cx="2629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48825" y="2620417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忘 promote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648825" y="2982367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跨项目可复用结论留在 memory 没回流，下次跨项目搜索时找不到。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48825" y="3401467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解药：</a:t>
            </a: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定期审 memory，把 reference / feedback 类型挑出来 promote。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48825" y="3820567"/>
            <a:ext cx="775049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i="1" dirty="0">
                <a:solidFill>
                  <a:srgbClr val="8A7F7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案例：2026-05-12 一次性挑出 OTFS pilot tradeoff + MATLAB pitfalls 两条 promote 到 Hub。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62000" y="5163592"/>
            <a:ext cx="8229600" cy="2175867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566696" y="5344567"/>
            <a:ext cx="2629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14425" y="5516017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私密泄露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14425" y="5877967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私人项目（DocProcess 系）的方法论 / 案例不能进公开 Hub。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14425" y="6297067"/>
            <a:ext cx="7750492" cy="651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解药：</a:t>
            </a: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硬约束 </a:t>
            </a:r>
            <a:r>
              <a:rPr lang="en-US" sz="1380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&lt;private&gt; </a:t>
            </a: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标签拦截 hook（</a:t>
            </a:r>
            <a:r>
              <a:rPr lang="en-US" sz="1380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check_private_tags.py </a:t>
            </a: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），跨项目知识沉淀走 Hub 私人区域而非公开 wiki。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296400" y="5163592"/>
            <a:ext cx="8229600" cy="2175867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7101096" y="5344567"/>
            <a:ext cx="2629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48825" y="5516017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Hub 索引漂移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648825" y="5877967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wiki/*.md 写入但 index.md / log.md 未同步 → 新建页面变孤儿 → 检索失败。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48825" y="6297067"/>
            <a:ext cx="7750492" cy="34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解药：</a:t>
            </a: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Stop hook </a:t>
            </a:r>
            <a:r>
              <a:rPr lang="en-US" sz="1380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check_index_log_sync.py </a:t>
            </a:r>
            <a:r>
              <a:rPr lang="en-US" sz="1500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强制校验，未同步阻断 commit。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14350"/>
            <a:ext cx="57150" cy="57150"/>
          </a:xfrm>
          <a:prstGeom prst="ellipse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32827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06 · PROMOTE + ARCHIVE 阶段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062996" y="457200"/>
            <a:ext cx="729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 / 32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028700"/>
            <a:ext cx="14716125" cy="7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kern="0" spc="-86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知识闭环：</a:t>
            </a:r>
            <a:r>
              <a:rPr lang="en-US" sz="4800" i="1" kern="0" spc="-86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raw → ingest → wiki → promote.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62000" y="2267992"/>
            <a:ext cx="3819525" cy="1295400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00125" y="2468017"/>
            <a:ext cx="344357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VERB · 01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000125" y="2687092"/>
            <a:ext cx="344357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B14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ingest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00125" y="3125242"/>
            <a:ext cx="344357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raw/ → wiki/source-summaries/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4695825" y="2267992"/>
            <a:ext cx="342900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8A7F7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076825" y="2267992"/>
            <a:ext cx="3819525" cy="1295400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314950" y="2468017"/>
            <a:ext cx="344357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VERB · 02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314950" y="2687092"/>
            <a:ext cx="344357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B14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query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314950" y="3125242"/>
            <a:ext cx="344357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先查 Hub wiki · 3 层渐进披露 ≤3 页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9010650" y="2267992"/>
            <a:ext cx="342900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8A7F7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391650" y="2267992"/>
            <a:ext cx="3819525" cy="1295400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629775" y="2468017"/>
            <a:ext cx="344357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VERB · 03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9629775" y="2687092"/>
            <a:ext cx="344357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B14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promote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629775" y="3125242"/>
            <a:ext cx="344357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→ Hub · 跨项目结论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13325475" y="2267992"/>
            <a:ext cx="342900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8A7F7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3706475" y="2267992"/>
            <a:ext cx="3819525" cy="1295400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3944600" y="2468017"/>
            <a:ext cx="344357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VERB · 04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3944600" y="2687092"/>
            <a:ext cx="344357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B14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3944600" y="3125242"/>
            <a:ext cx="344357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周期性整理 log.md 与 index.md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762000" y="3868192"/>
            <a:ext cx="5384750" cy="3392686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388346" y="4049167"/>
            <a:ext cx="15964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 步 ingest 工作流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14425" y="4220617"/>
            <a:ext cx="482029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Workflow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87742" y="4553992"/>
            <a:ext cx="4882783" cy="2430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Step 1 · 扫描 raw/ 列未摄入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Step 1.5 · 预判规模 → inline 或 subagent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Step 2-4 · 摄入 + cross-ref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Step 5-6 · 同步 index + 追加 log</a:t>
            </a:r>
            <a:endParaRPr lang="en-US" sz="1425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Step 7 · 验证（lint + sync check）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6451550" y="3868192"/>
            <a:ext cx="5384750" cy="3392686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0544621" y="4049167"/>
            <a:ext cx="112975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当前 Hub 规模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03975" y="4220617"/>
            <a:ext cx="482029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Scale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013525" y="4649242"/>
            <a:ext cx="4610747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89 页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（17 concepts / 8 entities）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6803975" y="5024884"/>
            <a:ext cx="46799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013525" y="5129659"/>
            <a:ext cx="4610747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architecture + </a:t>
            </a:r>
            <a:r>
              <a:rPr lang="en-US" sz="1425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30+ source-summaries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6803975" y="5505301"/>
            <a:ext cx="46799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013525" y="5610076"/>
            <a:ext cx="4610747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 自动化脚本</a:t>
            </a:r>
            <a:endParaRPr lang="en-US" sz="1425" dirty="0"/>
          </a:p>
        </p:txBody>
      </p:sp>
      <p:sp>
        <p:nvSpPr>
          <p:cNvPr id="37" name="Shape 35"/>
          <p:cNvSpPr/>
          <p:nvPr/>
        </p:nvSpPr>
        <p:spPr>
          <a:xfrm>
            <a:off x="6803975" y="5985718"/>
            <a:ext cx="46799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013525" y="6090493"/>
            <a:ext cx="4610747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hooks（3 阻断 / 5 提醒 / 注入）</a:t>
            </a:r>
            <a:endParaRPr lang="en-US" sz="1425" dirty="0"/>
          </a:p>
        </p:txBody>
      </p:sp>
      <p:sp>
        <p:nvSpPr>
          <p:cNvPr id="39" name="Shape 37"/>
          <p:cNvSpPr/>
          <p:nvPr/>
        </p:nvSpPr>
        <p:spPr>
          <a:xfrm>
            <a:off x="12141101" y="3868192"/>
            <a:ext cx="5384750" cy="3392686"/>
          </a:xfrm>
          <a:prstGeom prst="rect">
            <a:avLst/>
          </a:prstGeom>
          <a:solidFill>
            <a:srgbClr val="FAF7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2141101" y="7251353"/>
            <a:ext cx="538475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2141101" y="3868192"/>
            <a:ext cx="538475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2141101" y="3868192"/>
            <a:ext cx="38100" cy="3392686"/>
          </a:xfrm>
          <a:prstGeom prst="rect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7516326" y="3868192"/>
            <a:ext cx="9525" cy="3392686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5860762" y="4049167"/>
            <a:ext cx="150316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关键 hooks · 阻断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2522101" y="4220617"/>
            <a:ext cx="47908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Blocking hooks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2731651" y="4649242"/>
            <a:ext cx="4581315" cy="324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check_raw_write.py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：raw/ 写入拦截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12522101" y="5031135"/>
            <a:ext cx="4651325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2731651" y="5135910"/>
            <a:ext cx="4581315" cy="324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check_private_tags.py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&lt;private&gt;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泄露拦截</a:t>
            </a:r>
            <a:endParaRPr lang="en-US" sz="1425" dirty="0"/>
          </a:p>
        </p:txBody>
      </p:sp>
      <p:sp>
        <p:nvSpPr>
          <p:cNvPr id="49" name="Shape 47"/>
          <p:cNvSpPr/>
          <p:nvPr/>
        </p:nvSpPr>
        <p:spPr>
          <a:xfrm>
            <a:off x="12522101" y="5517803"/>
            <a:ext cx="4651325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2731651" y="5622578"/>
            <a:ext cx="4581315" cy="605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check_index_log_sync.py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：wiki 改动未同步阻 commit</a:t>
            </a:r>
            <a:endParaRPr lang="en-US" sz="14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40457" y="1143000"/>
            <a:ext cx="6023163" cy="457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250"/>
              </a:lnSpc>
              <a:buNone/>
            </a:pPr>
            <a:r>
              <a:rPr lang="en-US" sz="40000" i="1" kern="0" spc="-1680" dirty="0">
                <a:solidFill>
                  <a:srgbClr val="15120E">
                    <a:alpha val="8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07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431719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kern="0" spc="297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SEVEN · 第七章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857500"/>
            <a:ext cx="4762500" cy="266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7214741"/>
            <a:ext cx="17266920" cy="1776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900" kern="0" spc="-322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同样的工作，</a:t>
            </a:r>
            <a:r>
              <a:rPr lang="en-US" sz="12900" i="1" kern="0" spc="-322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新规则。</a:t>
            </a:r>
            <a:endParaRPr lang="en-US" sz="12900" dirty="0"/>
          </a:p>
        </p:txBody>
      </p:sp>
      <p:sp>
        <p:nvSpPr>
          <p:cNvPr id="6" name="Text 3"/>
          <p:cNvSpPr/>
          <p:nvPr/>
        </p:nvSpPr>
        <p:spPr>
          <a:xfrm>
            <a:off x="16936343" y="9610725"/>
            <a:ext cx="85635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68" dirty="0">
                <a:solidFill>
                  <a:srgbClr val="1512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 </a:t>
            </a:r>
            <a:r>
              <a:rPr lang="en-US" sz="1350" kern="0" spc="68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32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14350"/>
            <a:ext cx="57150" cy="57150"/>
          </a:xfrm>
          <a:prstGeom prst="ellipse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26098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07 · 同样的工作，新规则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062996" y="457200"/>
            <a:ext cx="729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 / 32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028700"/>
            <a:ext cx="14716125" cy="7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kern="0" spc="-86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同样的工作， </a:t>
            </a:r>
            <a:r>
              <a:rPr lang="en-US" sz="4800" i="1" kern="0" spc="-86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新规则。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62000" y="2077492"/>
            <a:ext cx="824103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2A251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 时代算法研究者的工作没变：找真问题，build 算法解决它，把它沉淀成可复用知识。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762000" y="3277642"/>
            <a:ext cx="8001000" cy="2895600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00125" y="3515767"/>
            <a:ext cx="77504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变的是路径 · WHAT CHANGED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000125" y="3801517"/>
            <a:ext cx="1409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12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调研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05075" y="3772942"/>
            <a:ext cx="62003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512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从「月」压到「</a:t>
            </a:r>
            <a:r>
              <a:rPr lang="en-US" sz="1200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下午</a:t>
            </a:r>
            <a:r>
              <a:rPr lang="en-US" sz="1200" dirty="0">
                <a:solidFill>
                  <a:srgbClr val="1512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0125" y="4163467"/>
            <a:ext cx="1409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12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05075" y="4134892"/>
            <a:ext cx="62003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512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从「周」压到「</a:t>
            </a:r>
            <a:r>
              <a:rPr lang="en-US" sz="1200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天</a:t>
            </a:r>
            <a:r>
              <a:rPr lang="en-US" sz="1200" dirty="0">
                <a:solidFill>
                  <a:srgbClr val="1512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0125" y="4525417"/>
            <a:ext cx="1409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12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RCA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05075" y="4496842"/>
            <a:ext cx="62003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512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从「天」压到「</a:t>
            </a:r>
            <a:r>
              <a:rPr lang="en-US" sz="1200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session</a:t>
            </a:r>
            <a:r>
              <a:rPr lang="en-US" sz="1200" dirty="0">
                <a:solidFill>
                  <a:srgbClr val="1512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0125" y="4858792"/>
            <a:ext cx="752475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00125" y="5011192"/>
            <a:ext cx="1409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12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Hub wiki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05075" y="4982617"/>
            <a:ext cx="62003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512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 → </a:t>
            </a:r>
            <a:r>
              <a:rPr lang="en-US" sz="1200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89 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0125" y="5373142"/>
            <a:ext cx="1409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12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05075" y="5344567"/>
            <a:ext cx="62003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512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 → </a:t>
            </a:r>
            <a:r>
              <a:rPr lang="en-US" sz="1200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50+ 条目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0125" y="5735092"/>
            <a:ext cx="1409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12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UWAcomm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05075" y="5706517"/>
            <a:ext cx="62003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512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长到 </a:t>
            </a:r>
            <a:r>
              <a:rPr lang="en-US" sz="1200" b="1" dirty="0">
                <a:solidFill>
                  <a:srgbClr val="B14A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 模块 · 6 体制 · 186 函数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25000" y="2077492"/>
            <a:ext cx="82410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但有一条线不变 —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525000" y="2477542"/>
            <a:ext cx="8241030" cy="210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500" kern="0" spc="-81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算法对不对、结论可不可下、是否进 archive、是否 promote —— </a:t>
            </a:r>
            <a:r>
              <a:rPr lang="en-US" sz="4500" i="1" kern="0" spc="-81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只有人能判。</a:t>
            </a:r>
            <a:endParaRPr lang="en-US" sz="4500" dirty="0"/>
          </a:p>
        </p:txBody>
      </p:sp>
      <p:sp>
        <p:nvSpPr>
          <p:cNvPr id="24" name="Shape 22"/>
          <p:cNvSpPr/>
          <p:nvPr/>
        </p:nvSpPr>
        <p:spPr>
          <a:xfrm>
            <a:off x="9525000" y="5005388"/>
            <a:ext cx="8001000" cy="1468636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829800" y="5272088"/>
            <a:ext cx="7613142" cy="973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F2EEE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实验跑得通 </a:t>
            </a:r>
            <a:r>
              <a:rPr lang="en-US" sz="2550" dirty="0">
                <a:solidFill>
                  <a:srgbClr val="C9C2B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≠ </a:t>
            </a:r>
            <a:r>
              <a:rPr lang="en-US" sz="2550" dirty="0">
                <a:solidFill>
                  <a:srgbClr val="F2EEE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算法对， 代下结论是 </a:t>
            </a:r>
            <a:r>
              <a:rPr lang="en-US" sz="2550" i="1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anti-pattern.</a:t>
            </a:r>
            <a:endParaRPr lang="en-US" sz="25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14350"/>
            <a:ext cx="57150" cy="57150"/>
          </a:xfrm>
          <a:prstGeom prst="ellipse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26098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07 · 同样的工作，新规则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062996" y="457200"/>
            <a:ext cx="729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 / 32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028700"/>
            <a:ext cx="14716125" cy="7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kern="0" spc="-86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工具栈 </a:t>
            </a:r>
            <a:r>
              <a:rPr lang="en-US" sz="4800" i="1" kern="0" spc="-86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一览。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62000" y="2267992"/>
            <a:ext cx="4019550" cy="4690765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449961" y="2448967"/>
            <a:ext cx="16966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4425" y="2620417"/>
            <a:ext cx="34141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核心运行时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14425" y="2982367"/>
            <a:ext cx="341414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8A7F7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Runtime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23975" y="3487192"/>
            <a:ext cx="3204591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Code CLI（Windows 11 + bash）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1114425" y="4143226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323975" y="4248001"/>
            <a:ext cx="3204591" cy="605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~/.claude/agents/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全局 agent 池 16+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1114425" y="4910286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323975" y="5015061"/>
            <a:ext cx="3204591" cy="324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~/.claude/skills/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90+ skill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1114425" y="5396954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323975" y="5501729"/>
            <a:ext cx="3204591" cy="605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~/.claude/rules/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common + zh + web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1114425" y="6164014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323975" y="6268789"/>
            <a:ext cx="3204591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8+ hooks（exit code 契约）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5010150" y="2267992"/>
            <a:ext cx="4019550" cy="4690765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698111" y="2448967"/>
            <a:ext cx="16966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62575" y="2620417"/>
            <a:ext cx="34141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MCP servers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362575" y="2953792"/>
            <a:ext cx="34141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8A7F7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 个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572125" y="3477667"/>
            <a:ext cx="3204591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context7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库文档 / API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5362575" y="3853309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572125" y="3958084"/>
            <a:ext cx="3204591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网络搜索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5362575" y="4333726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572125" y="4438501"/>
            <a:ext cx="3204591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github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repo 操作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5362575" y="4814143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572125" y="4918918"/>
            <a:ext cx="3204591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memory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knowledge graph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5362575" y="5294561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572125" y="5399336"/>
            <a:ext cx="3204591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playwright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浏览器测试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5362575" y="5774978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5572125" y="5879753"/>
            <a:ext cx="3204591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sequential-thinking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推理链</a:t>
            </a:r>
            <a:endParaRPr lang="en-US" sz="1425" dirty="0"/>
          </a:p>
        </p:txBody>
      </p:sp>
      <p:sp>
        <p:nvSpPr>
          <p:cNvPr id="34" name="Shape 32"/>
          <p:cNvSpPr/>
          <p:nvPr/>
        </p:nvSpPr>
        <p:spPr>
          <a:xfrm>
            <a:off x="9258300" y="2267992"/>
            <a:ext cx="4019550" cy="4690765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2946261" y="2448967"/>
            <a:ext cx="16966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10725" y="2620417"/>
            <a:ext cx="34141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自己沉淀的 skill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610725" y="2982367"/>
            <a:ext cx="341414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8A7F7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Self-authored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820275" y="3487192"/>
            <a:ext cx="3204591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flowgen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skill — Visio / Mermaid 流程图</a:t>
            </a:r>
            <a:endParaRPr lang="en-US" sz="1425" dirty="0"/>
          </a:p>
        </p:txBody>
      </p:sp>
      <p:sp>
        <p:nvSpPr>
          <p:cNvPr id="39" name="Shape 37"/>
          <p:cNvSpPr/>
          <p:nvPr/>
        </p:nvSpPr>
        <p:spPr>
          <a:xfrm>
            <a:off x="9610725" y="4143226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9820275" y="4248001"/>
            <a:ext cx="3204591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llm-wiki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paths: wiki/** 自动激活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9610725" y="4623643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9820275" y="4728418"/>
            <a:ext cx="3204591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wiki-ingester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subagent — 长论文独立上下文</a:t>
            </a:r>
            <a:endParaRPr lang="en-US" sz="1425" dirty="0"/>
          </a:p>
        </p:txBody>
      </p:sp>
      <p:sp>
        <p:nvSpPr>
          <p:cNvPr id="43" name="Shape 41"/>
          <p:cNvSpPr/>
          <p:nvPr/>
        </p:nvSpPr>
        <p:spPr>
          <a:xfrm>
            <a:off x="9610725" y="5384453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9820275" y="5489228"/>
            <a:ext cx="3204591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tech-requirements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MATLAB 算法函数</a:t>
            </a:r>
            <a:endParaRPr lang="en-US" sz="1425" dirty="0"/>
          </a:p>
        </p:txBody>
      </p:sp>
      <p:sp>
        <p:nvSpPr>
          <p:cNvPr id="45" name="Shape 43"/>
          <p:cNvSpPr/>
          <p:nvPr/>
        </p:nvSpPr>
        <p:spPr>
          <a:xfrm>
            <a:off x="9610725" y="6145262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9820275" y="6250037"/>
            <a:ext cx="3204591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jy-pricing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军用软件四号文计价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13506450" y="2267992"/>
            <a:ext cx="4019550" cy="4690765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7194411" y="2448967"/>
            <a:ext cx="16966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3858875" y="2620417"/>
            <a:ext cx="34141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Hub 脚本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3858875" y="2982367"/>
            <a:ext cx="341414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8A7F7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Hub scripts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4068425" y="3487192"/>
            <a:ext cx="3204591" cy="89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lint_wiki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 </a:t>
            </a: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check_index_log_sync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 </a:t>
            </a: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sync_index</a:t>
            </a:r>
            <a:endParaRPr lang="en-US" sz="1425" dirty="0"/>
          </a:p>
        </p:txBody>
      </p:sp>
      <p:sp>
        <p:nvSpPr>
          <p:cNvPr id="52" name="Shape 50"/>
          <p:cNvSpPr/>
          <p:nvPr/>
        </p:nvSpPr>
        <p:spPr>
          <a:xfrm>
            <a:off x="13858875" y="4442371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4068425" y="4547146"/>
            <a:ext cx="3204591" cy="605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transcribe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（Whisper）/ </a:t>
            </a: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scrape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（Firecrawl）</a:t>
            </a:r>
            <a:endParaRPr lang="en-US" sz="1425" dirty="0"/>
          </a:p>
        </p:txBody>
      </p:sp>
      <p:sp>
        <p:nvSpPr>
          <p:cNvPr id="54" name="Shape 52"/>
          <p:cNvSpPr/>
          <p:nvPr/>
        </p:nvSpPr>
        <p:spPr>
          <a:xfrm>
            <a:off x="13858875" y="5209431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4068425" y="5314206"/>
            <a:ext cx="3204591" cy="61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import-zotero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 </a:t>
            </a: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import-readwise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 </a:t>
            </a: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extract_pdf</a:t>
            </a:r>
            <a:endParaRPr lang="en-US" sz="14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14350"/>
            <a:ext cx="57150" cy="57150"/>
          </a:xfrm>
          <a:prstGeom prst="ellipse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26098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07 · 同样的工作，新规则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062996" y="457200"/>
            <a:ext cx="729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 / 32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028700"/>
            <a:ext cx="14716125" cy="7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kern="0" spc="-86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反模式合并视图 </a:t>
            </a:r>
            <a:r>
              <a:rPr lang="en-US" sz="4800" i="1" kern="0" spc="-86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· 4 大跨阶段。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62000" y="2658517"/>
            <a:ext cx="3962400" cy="19050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33450" y="2401342"/>
            <a:ext cx="37383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26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反模式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24400" y="2658517"/>
            <a:ext cx="2628900" cy="19050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895850" y="2401342"/>
            <a:ext cx="236486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26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出现阶段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53300" y="2658517"/>
            <a:ext cx="10172700" cy="19050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524750" y="2401342"/>
            <a:ext cx="1013498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26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解药 / MEMORY 条目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62000" y="3339554"/>
            <a:ext cx="39624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33450" y="2849017"/>
            <a:ext cx="37383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代下「完成 / work」结论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4724400" y="3339554"/>
            <a:ext cx="26289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895850" y="2877592"/>
            <a:ext cx="1245245" cy="295275"/>
          </a:xfrm>
          <a:prstGeom prst="roundRect">
            <a:avLst>
              <a:gd name="adj" fmla="val 50000"/>
            </a:avLst>
          </a:prstGeom>
          <a:ln w="9525">
            <a:solidFill>
              <a:srgbClr val="B14A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019675" y="2925217"/>
            <a:ext cx="10737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84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 + RCA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53300" y="3339554"/>
            <a:ext cx="10172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524750" y="2849017"/>
            <a:ext cx="1013498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feedback_uwacomm_testing_boundary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（每 checkpoint 停 + 不代下结论）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762000" y="4006304"/>
            <a:ext cx="39624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33450" y="3520529"/>
            <a:ext cx="373837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 技术债（worktree 漂移）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4724400" y="4006304"/>
            <a:ext cx="26289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895850" y="3544342"/>
            <a:ext cx="701129" cy="295275"/>
          </a:xfrm>
          <a:prstGeom prst="roundRect">
            <a:avLst>
              <a:gd name="adj" fmla="val 50000"/>
            </a:avLst>
          </a:prstGeom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019675" y="3591967"/>
            <a:ext cx="5296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84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53300" y="4006304"/>
            <a:ext cx="10172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524750" y="3520529"/>
            <a:ext cx="1013498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周期性集成（2026-05-12 claude+codex 175 文件合并）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762000" y="4673054"/>
            <a:ext cx="39624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33450" y="4187279"/>
            <a:ext cx="373837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零摩擦 scope creep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4724400" y="4673054"/>
            <a:ext cx="26289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895850" y="4211092"/>
            <a:ext cx="701129" cy="295275"/>
          </a:xfrm>
          <a:prstGeom prst="roundRect">
            <a:avLst>
              <a:gd name="adj" fmla="val 50000"/>
            </a:avLst>
          </a:prstGeom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5019675" y="4258717"/>
            <a:ext cx="5296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84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53300" y="4673054"/>
            <a:ext cx="10172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7524750" y="4187279"/>
            <a:ext cx="1013498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specs/active 单职责硬约束 + 新 scope 必新 spec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762000" y="5339804"/>
            <a:ext cx="39624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933450" y="4854029"/>
            <a:ext cx="373837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C 时变证伪（多根因混淆）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4724400" y="5339804"/>
            <a:ext cx="26289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4895850" y="4877842"/>
            <a:ext cx="519708" cy="295275"/>
          </a:xfrm>
          <a:prstGeom prst="roundRect">
            <a:avLst>
              <a:gd name="adj" fmla="val 50000"/>
            </a:avLst>
          </a:prstGeom>
          <a:ln w="9525">
            <a:solidFill>
              <a:srgbClr val="B14A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019675" y="4925467"/>
            <a:ext cx="34825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84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RCA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353300" y="5339804"/>
            <a:ext cx="10172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524750" y="4854029"/>
            <a:ext cx="1013498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feedback_single_root_cause_audit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（D9/D10 toggle + 跨 runner）</a:t>
            </a:r>
            <a:endParaRPr lang="en-US" sz="1425" dirty="0"/>
          </a:p>
        </p:txBody>
      </p:sp>
      <p:sp>
        <p:nvSpPr>
          <p:cNvPr id="40" name="Shape 38"/>
          <p:cNvSpPr/>
          <p:nvPr/>
        </p:nvSpPr>
        <p:spPr>
          <a:xfrm>
            <a:off x="762000" y="6006554"/>
            <a:ext cx="39624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933450" y="5520779"/>
            <a:ext cx="373837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confirmation bias</a:t>
            </a:r>
            <a:endParaRPr lang="en-US" sz="1425" dirty="0"/>
          </a:p>
        </p:txBody>
      </p:sp>
      <p:sp>
        <p:nvSpPr>
          <p:cNvPr id="42" name="Shape 40"/>
          <p:cNvSpPr/>
          <p:nvPr/>
        </p:nvSpPr>
        <p:spPr>
          <a:xfrm>
            <a:off x="4724400" y="6006554"/>
            <a:ext cx="26289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4895850" y="5544592"/>
            <a:ext cx="973187" cy="295275"/>
          </a:xfrm>
          <a:prstGeom prst="roundRect">
            <a:avLst>
              <a:gd name="adj" fmla="val 50000"/>
            </a:avLst>
          </a:prstGeom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5019675" y="5592217"/>
            <a:ext cx="80173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84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RESEARCH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353300" y="6006554"/>
            <a:ext cx="10172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7524750" y="5520779"/>
            <a:ext cx="1013498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 Claude 反向 pressure-test，找 disconfirming evidence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762000" y="6673304"/>
            <a:ext cx="39624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933450" y="6187529"/>
            <a:ext cx="373837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跳过 specs / 工作流</a:t>
            </a:r>
            <a:endParaRPr lang="en-US" sz="1425" dirty="0"/>
          </a:p>
        </p:txBody>
      </p:sp>
      <p:sp>
        <p:nvSpPr>
          <p:cNvPr id="49" name="Shape 47"/>
          <p:cNvSpPr/>
          <p:nvPr/>
        </p:nvSpPr>
        <p:spPr>
          <a:xfrm>
            <a:off x="4724400" y="6673304"/>
            <a:ext cx="26289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4895850" y="6211342"/>
            <a:ext cx="1751856" cy="295275"/>
          </a:xfrm>
          <a:prstGeom prst="roundRect">
            <a:avLst>
              <a:gd name="adj" fmla="val 50000"/>
            </a:avLst>
          </a:prstGeom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5019675" y="6258967"/>
            <a:ext cx="15804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84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RESEARCH → BUILD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353300" y="6673304"/>
            <a:ext cx="10172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7524750" y="6187529"/>
            <a:ext cx="1013498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feedback_ohmybrain_workflow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（硬工序 specs→plans→code）</a:t>
            </a:r>
            <a:endParaRPr lang="en-US" sz="1425" dirty="0"/>
          </a:p>
        </p:txBody>
      </p:sp>
      <p:sp>
        <p:nvSpPr>
          <p:cNvPr id="54" name="Shape 52"/>
          <p:cNvSpPr/>
          <p:nvPr/>
        </p:nvSpPr>
        <p:spPr>
          <a:xfrm>
            <a:off x="762000" y="7340054"/>
            <a:ext cx="3962400" cy="9525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933450" y="6854279"/>
            <a:ext cx="373837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过度 / 忘 promote / 私密泄露</a:t>
            </a:r>
            <a:endParaRPr lang="en-US" sz="1425" dirty="0"/>
          </a:p>
        </p:txBody>
      </p:sp>
      <p:sp>
        <p:nvSpPr>
          <p:cNvPr id="56" name="Shape 54"/>
          <p:cNvSpPr/>
          <p:nvPr/>
        </p:nvSpPr>
        <p:spPr>
          <a:xfrm>
            <a:off x="4724400" y="7340054"/>
            <a:ext cx="2628900" cy="9525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4895850" y="6878092"/>
            <a:ext cx="882402" cy="295275"/>
          </a:xfrm>
          <a:prstGeom prst="roundRect">
            <a:avLst>
              <a:gd name="adj" fmla="val 50000"/>
            </a:avLst>
          </a:prstGeom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5019675" y="6925717"/>
            <a:ext cx="71095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84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PROMOTE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353300" y="7340054"/>
            <a:ext cx="10172700" cy="9525"/>
          </a:xfrm>
          <a:prstGeom prst="rect">
            <a:avLst/>
          </a:prstGeom>
          <a:solidFill>
            <a:srgbClr val="1512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7524750" y="6854279"/>
            <a:ext cx="1013498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&lt;private&gt;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标签 + </a:t>
            </a: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check_index_log_sync.py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hook</a:t>
            </a:r>
            <a:endParaRPr lang="en-US" sz="14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23086" y="1143000"/>
            <a:ext cx="9026603" cy="3114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8500" i="1" kern="0" spc="-1140" dirty="0">
                <a:solidFill>
                  <a:srgbClr val="15120E">
                    <a:alpha val="8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APPX</a:t>
            </a:r>
            <a:endParaRPr lang="en-US" sz="285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337765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kern="0" spc="297" dirty="0">
                <a:solidFill>
                  <a:srgbClr val="B14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APPENDIX · 附录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667000"/>
            <a:ext cx="4762500" cy="304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7214741"/>
            <a:ext cx="17266920" cy="1776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900" kern="0" spc="-322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资 源 </a:t>
            </a:r>
            <a:r>
              <a:rPr lang="en-US" sz="12900" i="1" kern="0" spc="-322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Resources</a:t>
            </a:r>
            <a:endParaRPr lang="en-US" sz="12900" dirty="0"/>
          </a:p>
        </p:txBody>
      </p:sp>
      <p:sp>
        <p:nvSpPr>
          <p:cNvPr id="6" name="Text 3"/>
          <p:cNvSpPr/>
          <p:nvPr/>
        </p:nvSpPr>
        <p:spPr>
          <a:xfrm>
            <a:off x="16936343" y="9610725"/>
            <a:ext cx="85635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68" dirty="0">
                <a:solidFill>
                  <a:srgbClr val="1512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 </a:t>
            </a:r>
            <a:r>
              <a:rPr lang="en-US" sz="1350" kern="0" spc="68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32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14350"/>
            <a:ext cx="57150" cy="57150"/>
          </a:xfrm>
          <a:prstGeom prst="ellipse">
            <a:avLst/>
          </a:prstGeom>
          <a:solidFill>
            <a:srgbClr val="B14A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457200"/>
            <a:ext cx="19831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APPENDIX · 工具栈与模板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062996" y="457200"/>
            <a:ext cx="729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 / 32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028700"/>
            <a:ext cx="14716125" cy="7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kern="0" spc="-86" dirty="0">
                <a:solidFill>
                  <a:srgbClr val="15120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模板与 skill </a:t>
            </a:r>
            <a:r>
              <a:rPr lang="en-US" sz="4800" i="1" kern="0" spc="-86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清单。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62000" y="2267992"/>
            <a:ext cx="4019550" cy="4399062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170015" y="2448967"/>
            <a:ext cx="4496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4425" y="2620417"/>
            <a:ext cx="34141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项目模板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23975" y="3077617"/>
            <a:ext cx="3204591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ohmybrain-core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母仓 — 派生新项目 SOP 起点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1114425" y="3733651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323975" y="3838426"/>
            <a:ext cx="3204591" cy="605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specs/active/&lt;slug&gt;.md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目标/边界/verification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114425" y="4500711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323975" y="4605486"/>
            <a:ext cx="3204591" cy="605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三层（global / project / local）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5010150" y="2267992"/>
            <a:ext cx="4019550" cy="4399062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418165" y="2448967"/>
            <a:ext cx="4496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62575" y="2620417"/>
            <a:ext cx="34141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专用 skill / agent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572125" y="3077617"/>
            <a:ext cx="3204591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flowgen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skill — 流程图全场景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5362575" y="3453259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572125" y="3558034"/>
            <a:ext cx="3204591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llm-wiki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paths-based 自动激活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5362575" y="3933676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572125" y="4038451"/>
            <a:ext cx="3204591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wiki-ingester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长论文独立上下文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5362575" y="4414093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572125" y="4518868"/>
            <a:ext cx="3204591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tech-requirements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MATLAB 函数生成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5362575" y="5174903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572125" y="5279678"/>
            <a:ext cx="3204591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jy-pricing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军用软件四号文计价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9258300" y="2267992"/>
            <a:ext cx="4019550" cy="4399062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2666315" y="2448967"/>
            <a:ext cx="4496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10725" y="2620417"/>
            <a:ext cx="34141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Hub 自动化脚本 · 19 个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820275" y="3077617"/>
            <a:ext cx="3204591" cy="89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一致性：</a:t>
            </a: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lint_wiki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 </a:t>
            </a: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check_index_log_sync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 </a:t>
            </a: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sync_index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9610725" y="4032796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820275" y="4137571"/>
            <a:ext cx="3204591" cy="61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摄入：</a:t>
            </a: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transcribe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（Whisper）/ </a:t>
            </a: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scrape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（Firecrawl）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9610725" y="4806107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820275" y="4910882"/>
            <a:ext cx="3204591" cy="61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PDF：</a:t>
            </a: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extract_pdf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 </a:t>
            </a: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import_theses</a:t>
            </a:r>
            <a:endParaRPr lang="en-US" sz="1425" dirty="0"/>
          </a:p>
        </p:txBody>
      </p:sp>
      <p:sp>
        <p:nvSpPr>
          <p:cNvPr id="34" name="Shape 32"/>
          <p:cNvSpPr/>
          <p:nvPr/>
        </p:nvSpPr>
        <p:spPr>
          <a:xfrm>
            <a:off x="9610725" y="5579418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9820275" y="5684193"/>
            <a:ext cx="3204591" cy="61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导入：</a:t>
            </a: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import-zotero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 </a:t>
            </a: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import-readwise</a:t>
            </a:r>
            <a:endParaRPr lang="en-US" sz="1425" dirty="0"/>
          </a:p>
        </p:txBody>
      </p:sp>
      <p:sp>
        <p:nvSpPr>
          <p:cNvPr id="36" name="Shape 34"/>
          <p:cNvSpPr/>
          <p:nvPr/>
        </p:nvSpPr>
        <p:spPr>
          <a:xfrm>
            <a:off x="13506450" y="2267992"/>
            <a:ext cx="4019550" cy="4399062"/>
          </a:xfrm>
          <a:prstGeom prst="rect">
            <a:avLst/>
          </a:prstGeom>
          <a:solidFill>
            <a:srgbClr val="FAF7F0"/>
          </a:solidFill>
          <a:ln w="9525">
            <a:solidFill>
              <a:srgbClr val="D8D0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6914465" y="2448967"/>
            <a:ext cx="4496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8A7F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04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3858875" y="2620417"/>
            <a:ext cx="34141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151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Hub 路径地图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4068425" y="3077617"/>
            <a:ext cx="3204591" cy="324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raw/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只读原料（hook 拦截写入）</a:t>
            </a:r>
            <a:endParaRPr lang="en-US" sz="1425" dirty="0"/>
          </a:p>
        </p:txBody>
      </p:sp>
      <p:sp>
        <p:nvSpPr>
          <p:cNvPr id="40" name="Shape 38"/>
          <p:cNvSpPr/>
          <p:nvPr/>
        </p:nvSpPr>
        <p:spPr>
          <a:xfrm>
            <a:off x="13858875" y="3459510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4068425" y="3602385"/>
            <a:ext cx="1512987" cy="238125"/>
          </a:xfrm>
          <a:prstGeom prst="rect">
            <a:avLst/>
          </a:prstGeom>
          <a:solidFill>
            <a:srgbClr val="EBE5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4125575" y="3611910"/>
            <a:ext cx="147488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11" dirty="0">
                <a:solidFill>
                  <a:srgbClr val="1512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wiki/concepts/</a:t>
            </a:r>
            <a:endParaRPr lang="en-US" sz="1311" dirty="0"/>
          </a:p>
        </p:txBody>
      </p:sp>
      <p:sp>
        <p:nvSpPr>
          <p:cNvPr id="43" name="Shape 41"/>
          <p:cNvSpPr/>
          <p:nvPr/>
        </p:nvSpPr>
        <p:spPr>
          <a:xfrm>
            <a:off x="15622042" y="3602385"/>
            <a:ext cx="1013520" cy="238125"/>
          </a:xfrm>
          <a:prstGeom prst="rect">
            <a:avLst/>
          </a:prstGeom>
          <a:solidFill>
            <a:srgbClr val="EBE5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5679192" y="3611910"/>
            <a:ext cx="9754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11" dirty="0">
                <a:solidFill>
                  <a:srgbClr val="1512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entities/</a:t>
            </a:r>
            <a:endParaRPr lang="en-US" sz="1311" dirty="0"/>
          </a:p>
        </p:txBody>
      </p:sp>
      <p:sp>
        <p:nvSpPr>
          <p:cNvPr id="45" name="Shape 43"/>
          <p:cNvSpPr/>
          <p:nvPr/>
        </p:nvSpPr>
        <p:spPr>
          <a:xfrm>
            <a:off x="14068425" y="3889028"/>
            <a:ext cx="1812578" cy="238125"/>
          </a:xfrm>
          <a:prstGeom prst="rect">
            <a:avLst/>
          </a:prstGeom>
          <a:solidFill>
            <a:srgbClr val="EBE5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4125575" y="3898553"/>
            <a:ext cx="177447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11" dirty="0">
                <a:solidFill>
                  <a:srgbClr val="1512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source-summaries/</a:t>
            </a:r>
            <a:endParaRPr lang="en-US" sz="1311" dirty="0"/>
          </a:p>
        </p:txBody>
      </p:sp>
      <p:sp>
        <p:nvSpPr>
          <p:cNvPr id="47" name="Shape 45"/>
          <p:cNvSpPr/>
          <p:nvPr/>
        </p:nvSpPr>
        <p:spPr>
          <a:xfrm>
            <a:off x="13858875" y="4232821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14068425" y="4375696"/>
            <a:ext cx="1912590" cy="238125"/>
          </a:xfrm>
          <a:prstGeom prst="rect">
            <a:avLst/>
          </a:prstGeom>
          <a:solidFill>
            <a:srgbClr val="EBE5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4125575" y="4385221"/>
            <a:ext cx="187449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11" dirty="0">
                <a:solidFill>
                  <a:srgbClr val="1512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wiki/architecture/</a:t>
            </a:r>
            <a:endParaRPr lang="en-US" sz="1311" dirty="0"/>
          </a:p>
        </p:txBody>
      </p:sp>
      <p:sp>
        <p:nvSpPr>
          <p:cNvPr id="50" name="Shape 48"/>
          <p:cNvSpPr/>
          <p:nvPr/>
        </p:nvSpPr>
        <p:spPr>
          <a:xfrm>
            <a:off x="16021645" y="4375696"/>
            <a:ext cx="813643" cy="238125"/>
          </a:xfrm>
          <a:prstGeom prst="rect">
            <a:avLst/>
          </a:prstGeom>
          <a:solidFill>
            <a:srgbClr val="EBE5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6078795" y="4385221"/>
            <a:ext cx="7755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11" dirty="0">
                <a:solidFill>
                  <a:srgbClr val="1512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topics/</a:t>
            </a:r>
            <a:endParaRPr lang="en-US" sz="1311" dirty="0"/>
          </a:p>
        </p:txBody>
      </p:sp>
      <p:sp>
        <p:nvSpPr>
          <p:cNvPr id="52" name="Shape 50"/>
          <p:cNvSpPr/>
          <p:nvPr/>
        </p:nvSpPr>
        <p:spPr>
          <a:xfrm>
            <a:off x="14068425" y="4662339"/>
            <a:ext cx="1413123" cy="238125"/>
          </a:xfrm>
          <a:prstGeom prst="rect">
            <a:avLst/>
          </a:prstGeom>
          <a:solidFill>
            <a:srgbClr val="EBE5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4125575" y="4671864"/>
            <a:ext cx="13750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11" dirty="0">
                <a:solidFill>
                  <a:srgbClr val="1512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explorations/</a:t>
            </a:r>
            <a:endParaRPr lang="en-US" sz="1311" dirty="0"/>
          </a:p>
        </p:txBody>
      </p:sp>
      <p:sp>
        <p:nvSpPr>
          <p:cNvPr id="54" name="Shape 52"/>
          <p:cNvSpPr/>
          <p:nvPr/>
        </p:nvSpPr>
        <p:spPr>
          <a:xfrm>
            <a:off x="13858875" y="5006132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4068425" y="5110907"/>
            <a:ext cx="3204591" cy="324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projects/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项目导航卡片</a:t>
            </a:r>
            <a:endParaRPr lang="en-US" sz="1425" dirty="0"/>
          </a:p>
        </p:txBody>
      </p:sp>
      <p:sp>
        <p:nvSpPr>
          <p:cNvPr id="56" name="Shape 54"/>
          <p:cNvSpPr/>
          <p:nvPr/>
        </p:nvSpPr>
        <p:spPr>
          <a:xfrm>
            <a:off x="13858875" y="5492800"/>
            <a:ext cx="3314700" cy="9525"/>
          </a:xfrm>
          <a:prstGeom prst="rect">
            <a:avLst/>
          </a:prstGeom>
          <a:solidFill>
            <a:srgbClr val="D8D0B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4068425" y="5597575"/>
            <a:ext cx="3204591" cy="324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11" dirty="0">
                <a:solidFill>
                  <a:srgbClr val="15120E"/>
                </a:solidFill>
                <a:highlight>
                  <a:srgbClr val="EBE5D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scripts/ </a:t>
            </a:r>
            <a:r>
              <a:rPr lang="en-US" sz="1425" dirty="0">
                <a:solidFill>
                  <a:srgbClr val="2A25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自动化（19 个 .py）</a:t>
            </a:r>
            <a:endParaRPr lang="en-US" sz="14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5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762000" cy="76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09490" y="762000"/>
            <a:ext cx="2316510" cy="757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80000"/>
              </a:lnSpc>
              <a:buNone/>
            </a:pPr>
            <a:r>
              <a:rPr lang="en-US" sz="1050" kern="0" spc="210" dirty="0">
                <a:solidFill>
                  <a:srgbClr val="C9C2B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✻ CLAUDE OHMYBRAIN · D:\CLAUDE END OF FIELDBOOK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62000" y="5220606"/>
            <a:ext cx="16764000" cy="3458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600" kern="0" spc="-192" dirty="0">
                <a:solidFill>
                  <a:srgbClr val="F2EEE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✻ </a:t>
            </a:r>
            <a:r>
              <a:rPr lang="en-US" sz="9600" i="1" kern="0" spc="-192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Claude.</a:t>
            </a:r>
          </a:p>
          <a:p>
            <a:pPr marL="0" indent="0" algn="l">
              <a:buNone/>
            </a:pPr>
            <a:r>
              <a:rPr lang="en-US" sz="9600" i="1" kern="0" spc="-192" dirty="0">
                <a:solidFill>
                  <a:srgbClr val="B14A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</a:t>
            </a:r>
            <a:r>
              <a:rPr lang="en-US" sz="9600" kern="0" spc="-192" dirty="0">
                <a:solidFill>
                  <a:srgbClr val="F2EEE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Ohmybrain · D:\Claude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762000" y="9544050"/>
            <a:ext cx="39557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C9C2B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FIELDBOOK 2026.05 — REV. A · 32 / 32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3502</Words>
  <Application>Microsoft Office PowerPoint</Application>
  <PresentationFormat>自定义</PresentationFormat>
  <Paragraphs>579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9" baseType="lpstr">
      <vt:lpstr>JetBrains Mono</vt:lpstr>
      <vt:lpstr>Noto Sans SC</vt:lpstr>
      <vt:lpstr>Noto Serif SC</vt:lpstr>
      <vt:lpstr>Source Serif 4</vt:lpstr>
      <vt:lpstr>Arial</vt:lpstr>
      <vt:lpstr>IBM Plex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Lyren Lee</cp:lastModifiedBy>
  <cp:revision>9</cp:revision>
  <dcterms:created xsi:type="dcterms:W3CDTF">2026-05-22T06:34:00Z</dcterms:created>
  <dcterms:modified xsi:type="dcterms:W3CDTF">2026-05-22T06:42:00Z</dcterms:modified>
</cp:coreProperties>
</file>